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94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SLIDE: Introduce the team and topic. This presentation covers malware fundamentals, analysis methodologies, real-world case studies, and future challenges in cybersecurity.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Presenter 1:
Explain that malware = malicious software. Walk through the 5-stage attack lifecycle: Delivery → Exploit → Install → C2 Connect → Damage. Emphasize that every real attack follows this chain.
Ref: [1] NIST SP 800-83 Rev 1, Guide to Malware Incident Prevention and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Presenter 1:
Walk through each malware type using the card grid. Key point: each type has a different attack vector and goal. Ransomware is the most financially damaging today.
Ref: [2] Kaspersky Threat Intelligence Portal, 'Types of Malware,'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Presenter 2:
Contrast both methods. Static = inspect without running (safe but limited). Dynamic = run in sandbox (richer data, needs containment). Best practice is using both in combination.
Ref: [3] M. Sikorski &amp; A. Honig, 'Practical Malware Analysis,' No Starch Press, 2012.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Presenter 2:
Walk through each phase of the investigation lifecycle. Emphasize the tiered approach: start broad (triage), then deepen (behavioral), then go deep (code-level). Not every sample requires Tier 3.
Ref: [3] Sikorski &amp; Honig, 2012; [4] SANS Malware Analysis course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– Presenter 3:
Briefly introduce each tool and its role. Wireshark=network, Ghidra/IDA=reverse engineering, VirusTotal=quick triage, Procmon=behavior. In practice analysts use these in sequence.
Ref: [5] Ghidra, NSA, https://ghidra-sre.org; [6] VirusTotal, Google LLC, https://www.virustotal.com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– Presenter 3:
Cover the four main technical techniques. Emphasize sandbox is the safest way to observe dynamic behavior. Memory forensics is critical for detecting fileless malware.
Ref: [3] Sikorski &amp; Honig, 2012; [7] Volatility Foundation, https://volatilityfoundation.org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– Presenter 4:
WannaCry=ransomware worm exploiting NSA's EternalBlue vulnerability in May 2017. Stuxnet=first state-sponsored cyber weapon targeting Iranian nuclear infrastructure.
Ref: [8] Symantec, 'W32.Stuxnet Dossier,' 2010; [9] Microsoft, 'WannaCrypt attacks,' 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– Presenter 4:
Emotet was the most dangerous botnet of 2018-2021, disrupted by Europol in 2021. Pegasus by NSO Group is a military-grade spyware targeting journalists and activists via zero-click exploits.
Ref: [10] Citizen Lab, 'Pegasus Spyware,' 2021; [11] Europol, 'Emotet Takedown,'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– Presenter 5:
Highlight 6 major challenges. AI-generated polymorphic malware is the fastest-growing threat. Fileless malware is hardest to detect as it leaves no disk trace.
Ref: [12] Symantec ISTR 2023; [13] CrowdStrike Global Threat Report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– Presenter 5:
Wrap up with optimism. The future is AI-driven defense, Zero Trust as the new security model, and quantum-safe cryptography. Malware will keep evolving, but so will our defenses.
Ref: [14] NIST, 'Post-Quantum Cryptography,' 2022; [15] Gartner, 'Top Security Trends,'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SLIDE:
Open for Q&amp;A. Be ready to discuss any of the 5 topics. If asked about demonstrations, offer to show Wireshark or VirusTotal in action. Full IEEE references are in each slide's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32044"/>
          </a:solidFill>
          <a:ln w="12700">
            <a:solidFill>
              <a:srgbClr val="1320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47472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859536"/>
            <a:ext cx="347472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1719072"/>
            <a:ext cx="347472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0" y="2578608"/>
            <a:ext cx="347472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0" y="3438144"/>
            <a:ext cx="347472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0" y="4297680"/>
            <a:ext cx="347472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22960" y="1097280"/>
            <a:ext cx="1828800" cy="1828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749040" y="548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K.I.C.S.I.T  ·  BSCS  ·  CYBERSECURITY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49040" y="9601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3749040" y="166420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3749040" y="2487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· Tools · Challenges · Real-World Case Studies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749040" y="2944368"/>
            <a:ext cx="5029200" cy="27432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749040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49040" y="3383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Ali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22392" y="3383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Ali Abrar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95744" y="3383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Alyan Ahmed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74904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Haseeb Nawaz	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22392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Hassam Ullah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749040" y="4855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Malware?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3840480" cy="3703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DEFINED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45720" cy="292608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58368" y="162763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software designed to disrupt, damage, or gain unauthorized access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45720" cy="292608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" y="226771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vulnerabilities in systems, networks, and users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07792"/>
            <a:ext cx="45720" cy="292608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" y="290779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steal data, encrypt files, spy, or destroy systems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34840" y="1115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LIFECYCLE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481328"/>
            <a:ext cx="4297680" cy="493776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0" y="1536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DELIVERY </a:t>
            </a: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Drive-by / USB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1975104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434840" y="2130552"/>
            <a:ext cx="4297680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0" y="2185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EXPLOIT </a:t>
            </a: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Triggered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624328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434840" y="2779776"/>
            <a:ext cx="4297680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200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 </a:t>
            </a: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Dropped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273552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434840" y="3429000"/>
            <a:ext cx="4297680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572000" y="34838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C2 CONNECT </a:t>
            </a: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922776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434840" y="4078224"/>
            <a:ext cx="4297680" cy="4937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572000" y="4133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DAMAGE </a:t>
            </a: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Theft / Ransom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Malware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27432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84632" y="1261872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24712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9768" y="1975104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to files,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self-replicates on execution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36392" y="10789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136392" y="1078992"/>
            <a:ext cx="2743200" cy="822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300984" y="1261872"/>
            <a:ext cx="566928" cy="5669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25880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41064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46120" y="1975104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autonomously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networks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952744" y="10789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5952744" y="1078992"/>
            <a:ext cx="274320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6117336" y="1261872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32588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57416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062472" y="1975104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as legit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opens backdoor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20040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320040" y="2834640"/>
            <a:ext cx="2743200" cy="8229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484632" y="3017520"/>
            <a:ext cx="566928" cy="5669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081528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24712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29768" y="3730752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user data,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payment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136392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3136392" y="2834640"/>
            <a:ext cx="2743200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8"/>
          <p:cNvSpPr/>
          <p:nvPr/>
        </p:nvSpPr>
        <p:spPr>
          <a:xfrm>
            <a:off x="3300984" y="3017520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081528"/>
            <a:ext cx="402336" cy="4023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41064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3246120" y="3730752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monitors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exfiltrates user data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952744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2"/>
          <p:cNvSpPr/>
          <p:nvPr/>
        </p:nvSpPr>
        <p:spPr>
          <a:xfrm>
            <a:off x="5952744" y="2834640"/>
            <a:ext cx="2743200" cy="8229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3"/>
          <p:cNvSpPr/>
          <p:nvPr/>
        </p:nvSpPr>
        <p:spPr>
          <a:xfrm>
            <a:off x="6117336" y="3017520"/>
            <a:ext cx="566928" cy="56692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081528"/>
            <a:ext cx="402336" cy="40233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757416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6062472" y="3730752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deep in OS,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persistent access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| University Cybersecurity Presentation |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93192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3931920" cy="384048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1124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1591056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49808" y="15727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without executing the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093976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9808" y="2075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&amp; decompilation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2596896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49808" y="25786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extraction &amp; hash fingerprinting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099816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49808" y="3081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header &amp; metadata inspection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" y="3602736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49808" y="3584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rule signature matching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15968" y="2377440"/>
            <a:ext cx="512064" cy="5120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315968" y="240487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078992"/>
            <a:ext cx="3931920" cy="3657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892040" y="1078992"/>
            <a:ext cx="3931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074920" y="1124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47488" y="159105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321808" y="15727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in isolated sandbox environment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47488" y="209397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321808" y="2075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calls &amp; API behaviour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47488" y="259689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321808" y="25786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capture &amp;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47488" y="309981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321808" y="3081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&amp; file system change tracking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47488" y="36027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321808" y="3584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memory forensics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526280"/>
            <a:ext cx="850392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02920" y="45445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· No execution risk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45445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· Real runtime behaviour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1572768" cy="192024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1298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50392" y="131673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16642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Hash, quarantine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specimen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20240" y="2359152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084832" y="1417320"/>
            <a:ext cx="1572768" cy="1920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87752" y="1298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87752" y="131673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39696" y="16642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39696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imports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0" y="2359152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822192" y="1417320"/>
            <a:ext cx="157276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325112" y="1298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325112" y="131673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77056" y="16642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77056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run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capture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94960" y="2359152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559552" y="1417320"/>
            <a:ext cx="1572768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062472" y="1298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062472" y="131673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14416" y="16642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14416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Disassemble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logic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0" y="2359152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7296912" y="1417320"/>
            <a:ext cx="157276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799832" y="1298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799832" y="131673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51776" y="16642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PUBLISH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351776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indicators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" y="3493008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ANALYSIS ARCHITECTURE</a:t>
            </a:r>
            <a:endParaRPr lang="en-US" sz="9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E77AC5-4F4E-F9F8-8549-778C5D10FE8A}"/>
              </a:ext>
            </a:extLst>
          </p:cNvPr>
          <p:cNvGrpSpPr/>
          <p:nvPr/>
        </p:nvGrpSpPr>
        <p:grpSpPr>
          <a:xfrm>
            <a:off x="594360" y="3849624"/>
            <a:ext cx="8046720" cy="731520"/>
            <a:chOff x="137160" y="3858768"/>
            <a:chExt cx="8046720" cy="731520"/>
          </a:xfrm>
        </p:grpSpPr>
        <p:sp>
          <p:nvSpPr>
            <p:cNvPr id="38" name="Shape 36"/>
            <p:cNvSpPr/>
            <p:nvPr/>
          </p:nvSpPr>
          <p:spPr>
            <a:xfrm>
              <a:off x="137160" y="3858768"/>
              <a:ext cx="8046720" cy="219456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 37"/>
            <p:cNvSpPr/>
            <p:nvPr/>
          </p:nvSpPr>
          <p:spPr>
            <a:xfrm>
              <a:off x="228600" y="3877056"/>
              <a:ext cx="7863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A6F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TIER 1 · Triage</a:t>
              </a:r>
              <a:endParaRPr lang="en-US" sz="8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1051560" y="4114800"/>
              <a:ext cx="6217920" cy="219456"/>
            </a:xfrm>
            <a:prstGeom prst="rect">
              <a:avLst/>
            </a:prstGeom>
            <a:solidFill>
              <a:srgbClr val="CFFAFE"/>
            </a:solidFill>
            <a:ln w="12700">
              <a:solidFill>
                <a:srgbClr val="CFFAFE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Text 39"/>
            <p:cNvSpPr/>
            <p:nvPr/>
          </p:nvSpPr>
          <p:spPr>
            <a:xfrm>
              <a:off x="1143000" y="4133088"/>
              <a:ext cx="6035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891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TIER 2 · Behavioral</a:t>
              </a:r>
              <a:endParaRPr lang="en-US" sz="8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1965960" y="4370832"/>
              <a:ext cx="4389120" cy="219456"/>
            </a:xfrm>
            <a:prstGeom prst="rect">
              <a:avLst/>
            </a:prstGeom>
            <a:solidFill>
              <a:srgbClr val="E0E7FF"/>
            </a:solidFill>
            <a:ln w="12700">
              <a:solidFill>
                <a:srgbClr val="E0E7FF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 41"/>
            <p:cNvSpPr/>
            <p:nvPr/>
          </p:nvSpPr>
          <p:spPr>
            <a:xfrm>
              <a:off x="2057400" y="4389120"/>
              <a:ext cx="4206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TIER 3 · Code-Level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2296" cy="16642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84632" y="1207008"/>
            <a:ext cx="658368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4632" y="1216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15544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1901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213969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inspect live/offline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packets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09728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154680" y="1097280"/>
            <a:ext cx="82296" cy="16642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319272" y="1207008"/>
            <a:ext cx="65836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319272" y="1216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9272" y="15544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9272" y="1901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9272" y="213969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 open-source decompiler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code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109728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989320" y="1097280"/>
            <a:ext cx="82296" cy="16642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153912" y="1207008"/>
            <a:ext cx="658368" cy="2560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153912" y="1216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53912" y="15544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53912" y="1901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912" y="213969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tool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 binary disassembly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691640" y="3072384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691640" y="3072384"/>
            <a:ext cx="82296" cy="166420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856232" y="3182112"/>
            <a:ext cx="658368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856232" y="3191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856232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56232" y="3877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Multi-AV Scanner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56232" y="41148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files/URLs across 70+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engines instantly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26280" y="3072384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526280" y="3072384"/>
            <a:ext cx="82296" cy="16642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690872" y="3182112"/>
            <a:ext cx="658368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690872" y="3191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90872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Procmon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90872" y="3877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90872" y="41148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file system, registry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process/thread activity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560320" cy="365760"/>
          </a:xfrm>
          <a:prstGeom prst="rect">
            <a:avLst/>
          </a:prstGeom>
          <a:solidFill>
            <a:srgbClr val="1A6FC4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Sample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1737360"/>
            <a:ext cx="0" cy="128016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Disassemble (IDA/Ghidra)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00200" y="2231136"/>
            <a:ext cx="0" cy="128016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Functions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2724912"/>
            <a:ext cx="0" cy="128016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1480" y="2889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Logic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00200" y="3218688"/>
            <a:ext cx="0" cy="128016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0040" y="3346704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148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IOCs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078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ARCHITECTURE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4069080" cy="2286000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46320" y="14081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83480" y="1682496"/>
            <a:ext cx="3611880" cy="1719072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74920" y="17190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/ CONTAINER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49240" y="1993392"/>
            <a:ext cx="288036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440680" y="20848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SAMPLE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23957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· Contained · Logged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FORENSICS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041648"/>
            <a:ext cx="374904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11480" y="40599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Dump Capture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297680"/>
            <a:ext cx="3749040" cy="219456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11480" y="4315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Injection Detection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553712"/>
            <a:ext cx="3749040" cy="219456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11480" y="4572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DLL / Rootkit Scan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INSPECTION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041648"/>
            <a:ext cx="40690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846320" y="405993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packets (Wireshark)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297680"/>
            <a:ext cx="4069080" cy="219456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846320" y="43159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C2 domain/IP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553712"/>
            <a:ext cx="4069080" cy="219456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846320" y="45720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beaconing patterns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WannaCry &amp; Stuxnet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370332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41605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WANNACRY  2017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3840480" cy="347472"/>
          </a:xfrm>
          <a:prstGeom prst="rect">
            <a:avLst/>
          </a:prstGeom>
          <a:solidFill>
            <a:srgbClr val="FEEFEE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66928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Exploit EternalBlue (SMB)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95728" y="1883664"/>
            <a:ext cx="0" cy="109728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" y="1993392"/>
            <a:ext cx="3840480" cy="347472"/>
          </a:xfrm>
          <a:prstGeom prst="rect">
            <a:avLst/>
          </a:prstGeom>
          <a:solidFill>
            <a:srgbClr val="FEEFEE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2020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Self-propagate via LAN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95728" y="2340864"/>
            <a:ext cx="0" cy="109728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5488" y="2450592"/>
            <a:ext cx="3840480" cy="347472"/>
          </a:xfrm>
          <a:prstGeom prst="rect">
            <a:avLst/>
          </a:prstGeom>
          <a:solidFill>
            <a:srgbClr val="FEEFEE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66928" y="2478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Drop ransomware payload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95728" y="2798064"/>
            <a:ext cx="0" cy="109728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" y="2907792"/>
            <a:ext cx="3840480" cy="347472"/>
          </a:xfrm>
          <a:prstGeom prst="rect">
            <a:avLst/>
          </a:prstGeom>
          <a:solidFill>
            <a:srgbClr val="FEEFEE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66928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Encrypt all user files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95728" y="3255264"/>
            <a:ext cx="0" cy="109728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75488" y="3364992"/>
            <a:ext cx="3840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66928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Demand $300 Bitcoin ransom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77056"/>
            <a:ext cx="169164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39044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</a:t>
            </a:r>
            <a:endParaRPr lang="en-US" sz="16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150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240280" y="3877056"/>
            <a:ext cx="2103120" cy="62179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240280" y="3904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damage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078992"/>
            <a:ext cx="4160520" cy="37033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663440" y="1078992"/>
            <a:ext cx="4160520" cy="347472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4632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STUXNET  2010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28032" y="1536192"/>
            <a:ext cx="3840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919472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Spread via USB drives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48272" y="1883664"/>
            <a:ext cx="0" cy="109728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28032" y="1993392"/>
            <a:ext cx="3840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19472" y="2020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Infect Windows SCADA systems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48272" y="2340864"/>
            <a:ext cx="0" cy="109728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828032" y="2450592"/>
            <a:ext cx="3840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919472" y="2478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Target Siemens PLCs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48272" y="2798064"/>
            <a:ext cx="0" cy="109728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828032" y="2907792"/>
            <a:ext cx="3840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919472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 uranium centrifuge speed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748272" y="3255264"/>
            <a:ext cx="0" cy="109728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828032" y="3364992"/>
            <a:ext cx="3840480" cy="347472"/>
          </a:xfrm>
          <a:prstGeom prst="rect">
            <a:avLst/>
          </a:prstGeom>
          <a:solidFill>
            <a:srgbClr val="1A6FC4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919472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Cause physical equipment failure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28032" y="3877056"/>
            <a:ext cx="1920240" cy="621792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828032" y="39044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Cyber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39712" y="3877056"/>
            <a:ext cx="1920240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839712" y="39044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Emotet &amp; Pegasus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3703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416052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EMOTET  BANKING TROJAN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384048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66928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Phishing email w/ malicious doc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95728" y="1883664"/>
            <a:ext cx="0" cy="10972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" y="1993392"/>
            <a:ext cx="384048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2020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Macro executes on open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95728" y="2340864"/>
            <a:ext cx="0" cy="10972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5488" y="2450592"/>
            <a:ext cx="384048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66928" y="2478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Emotet payload downloaded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95728" y="2798064"/>
            <a:ext cx="0" cy="10972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" y="2907792"/>
            <a:ext cx="384048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66928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Harvest credentials &amp; contacts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95728" y="3255264"/>
            <a:ext cx="0" cy="10972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75488" y="3364992"/>
            <a:ext cx="384048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66928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Spread to next victims via email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77056"/>
            <a:ext cx="1828800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3904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$2.5B+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Damage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3877056"/>
            <a:ext cx="2011680" cy="62179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377440" y="39044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078992"/>
            <a:ext cx="4160520" cy="3703320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663440" y="1078992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4632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PEGASUS  MOBILE SPYWARE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1536192"/>
            <a:ext cx="3840480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919472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Zero-click iMessage exploit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48272" y="1883664"/>
            <a:ext cx="0" cy="1097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28032" y="1993392"/>
            <a:ext cx="3840480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19472" y="2020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user interaction required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48272" y="2340864"/>
            <a:ext cx="0" cy="1097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828032" y="2450592"/>
            <a:ext cx="3840480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919472" y="2478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 silently on iOS/Android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48272" y="2798064"/>
            <a:ext cx="0" cy="1097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828032" y="2907792"/>
            <a:ext cx="3840480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919472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Exfiltrate calls, messages, mic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748272" y="3255264"/>
            <a:ext cx="0" cy="1097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828032" y="3364992"/>
            <a:ext cx="3840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919472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Stream live GPS location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28032" y="3877056"/>
            <a:ext cx="182880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828032" y="3904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48272" y="3877056"/>
            <a:ext cx="2011680" cy="6217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101600" dist="381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748272" y="39044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Zero-click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Malware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73152" cy="1572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14984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Malware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84632" y="186537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ML to evade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signatures dynamically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63240" y="11155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063240" y="1115568"/>
            <a:ext cx="73152" cy="15727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8016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58184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Fileless Attacks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227832" y="186537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memory only;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disk footprint to detect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806440" y="11155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806440" y="1115568"/>
            <a:ext cx="73152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280160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01384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Obfuscation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971032" y="186537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packing, polymorphism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true behaviour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2779776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320040" y="2779776"/>
            <a:ext cx="73152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4436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14984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Anti-Analysis Tricks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84632" y="3529584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detection, sleep loops,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fingerprinting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063240" y="2779776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3063240" y="2779776"/>
            <a:ext cx="73152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944368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58184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Evolution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3227832" y="3529584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variants released faster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analyst capacity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806440" y="2779776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27"/>
          <p:cNvSpPr/>
          <p:nvPr/>
        </p:nvSpPr>
        <p:spPr>
          <a:xfrm>
            <a:off x="5806440" y="2779776"/>
            <a:ext cx="73152" cy="15727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2944368"/>
            <a:ext cx="420624" cy="4206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01384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Limitations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5971032" y="3529584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Sandboxes miss novel exploits;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lag persists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Cybersecurity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138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EVOLUTION TIMELINE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85039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48640" y="1316736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" y="9692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60934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12848" y="1316736"/>
            <a:ext cx="256032" cy="25603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984248" y="9692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8528" y="160934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77056" y="131673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48456" y="9692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02736" y="160934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41264" y="13167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12664" y="9692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66944" y="160934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Quantum-Safe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05472" y="1316736"/>
            <a:ext cx="256032" cy="256032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976872" y="9692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31152" y="160934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Wars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304288"/>
            <a:ext cx="2057400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0040" y="2304288"/>
            <a:ext cx="2057400" cy="54864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42416" y="2468880"/>
            <a:ext cx="621792" cy="621792"/>
          </a:xfrm>
          <a:prstGeom prst="ellipse">
            <a:avLst/>
          </a:prstGeom>
          <a:solidFill>
            <a:srgbClr val="1A6FC4">
              <a:alpha val="20000"/>
            </a:srgbClr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523744"/>
            <a:ext cx="475488" cy="4754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1148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11480" y="37124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detect anomalies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milliseconds; auto-respond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532888" y="2304288"/>
            <a:ext cx="2057400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2532888" y="2304288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3255264" y="2468880"/>
            <a:ext cx="621792" cy="621792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2523744"/>
            <a:ext cx="475488" cy="47548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624328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2624328" y="37124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authenticated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745736" y="2304288"/>
            <a:ext cx="2057400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4"/>
          <p:cNvSpPr/>
          <p:nvPr/>
        </p:nvSpPr>
        <p:spPr>
          <a:xfrm>
            <a:off x="4745736" y="2304288"/>
            <a:ext cx="2057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5"/>
          <p:cNvSpPr/>
          <p:nvPr/>
        </p:nvSpPr>
        <p:spPr>
          <a:xfrm>
            <a:off x="5468112" y="2468880"/>
            <a:ext cx="621792" cy="621792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64" y="2523744"/>
            <a:ext cx="475488" cy="47548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837176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4837176" y="37124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IOC sharing platforms;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correlation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958584" y="2304288"/>
            <a:ext cx="2057400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9"/>
          <p:cNvSpPr/>
          <p:nvPr/>
        </p:nvSpPr>
        <p:spPr>
          <a:xfrm>
            <a:off x="6958584" y="2304288"/>
            <a:ext cx="20574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0"/>
          <p:cNvSpPr/>
          <p:nvPr/>
        </p:nvSpPr>
        <p:spPr>
          <a:xfrm>
            <a:off x="7680960" y="2468880"/>
            <a:ext cx="621792" cy="621792"/>
          </a:xfrm>
          <a:prstGeom prst="ellipse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2523744"/>
            <a:ext cx="475488" cy="47548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050024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7050024" y="37124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encryption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resists future decryption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F1C36"/>
          </a:solidFill>
          <a:ln w="12700">
            <a:solidFill>
              <a:srgbClr val="0F1C3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206240" y="0"/>
            <a:ext cx="64008" cy="514350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2062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768096"/>
            <a:ext cx="42062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1536192"/>
            <a:ext cx="42062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0" y="2304288"/>
            <a:ext cx="42062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0" y="3072384"/>
            <a:ext cx="42062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42062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42062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88720" y="1097282"/>
            <a:ext cx="1828800" cy="1828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434840" y="1668781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4370832" y="2261478"/>
            <a:ext cx="4480560" cy="36576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4402836" y="3493289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402836" y="36667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NIST SP 800-83  [2] Kaspersky TI  [3] Sikorski &amp; Honig, No Starch Press 2012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SANS Inst.  [8] Symantec Stuxnet Dossier  [10] Citizen Lab Pegasus 2021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434840" y="48554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1461</Words>
  <Application>Microsoft Office PowerPoint</Application>
  <PresentationFormat>On-screen Show (16:9)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 Analysis: Techniques, Tools, Challenges, and Real-World Case Studies</dc:title>
  <dc:subject>PptxGenJS Presentation</dc:subject>
  <dc:creator>University Cybersecurity Team</dc:creator>
  <cp:lastModifiedBy>Hassan Ali</cp:lastModifiedBy>
  <cp:revision>6</cp:revision>
  <dcterms:created xsi:type="dcterms:W3CDTF">2026-05-12T00:23:18Z</dcterms:created>
  <dcterms:modified xsi:type="dcterms:W3CDTF">2026-05-13T18:05:07Z</dcterms:modified>
</cp:coreProperties>
</file>