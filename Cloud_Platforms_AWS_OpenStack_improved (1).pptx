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50" r:id="rId1"/>
  </p:sldMasterIdLst>
  <p:notesMasterIdLst>
    <p:notesMasterId r:id="rId2"/>
  </p:notesMasterIdLst>
  <p:sldIdLst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3" r:id="rId13"/>
    <p:sldId id="294" r:id="rId14"/>
  </p:sldIdLst>
  <p:sldSz type="screen16x9"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62"/>
      </p:cViewPr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0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6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7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7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Shape 0"/>
          <p:cNvSpPr/>
          <p:nvPr/>
        </p:nvSpPr>
        <p:spPr>
          <a:xfrm>
            <a:off x="6583680" y="-457200"/>
            <a:ext cx="3200400" cy="3200400"/>
          </a:xfrm>
          <a:prstGeom prst="ellipse"/>
          <a:solidFill>
            <a:srgbClr val="1A73E8">
              <a:alpha val="15000"/>
            </a:srgbClr>
          </a:solidFill>
          <a:ln w="12700">
            <a:solidFill>
              <a:srgbClr val="1A73E8">
                <a:alpha val="15000"/>
              </a:srgbClr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28" name="Shape 1"/>
          <p:cNvSpPr/>
          <p:nvPr/>
        </p:nvSpPr>
        <p:spPr>
          <a:xfrm>
            <a:off x="7315200" y="2286000"/>
            <a:ext cx="2011680" cy="2011680"/>
          </a:xfrm>
          <a:prstGeom prst="ellipse"/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29" name="Shape 2"/>
          <p:cNvSpPr/>
          <p:nvPr/>
        </p:nvSpPr>
        <p:spPr>
          <a:xfrm>
            <a:off x="-457200" y="3200400"/>
            <a:ext cx="2286000" cy="2286000"/>
          </a:xfrm>
          <a:prstGeom prst="ellipse"/>
          <a:solidFill>
            <a:srgbClr val="00BFA5">
              <a:alpha val="12000"/>
            </a:srgbClr>
          </a:solidFill>
          <a:ln w="12700">
            <a:solidFill>
              <a:srgbClr val="00BFA5">
                <a:alpha val="12000"/>
              </a:srgbClr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30" name="Shape 3"/>
          <p:cNvSpPr/>
          <p:nvPr/>
        </p:nvSpPr>
        <p:spPr>
          <a:xfrm>
            <a:off x="0" y="0"/>
            <a:ext cx="9144000" cy="36576"/>
          </a:xfrm>
          <a:prstGeom prst="rect"/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6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11480" y="502920"/>
            <a:ext cx="685800" cy="502920"/>
          </a:xfrm>
          <a:prstGeom prst="rect"/>
        </p:spPr>
      </p:pic>
      <p:sp>
        <p:nvSpPr>
          <p:cNvPr id="1048631" name="Text 4"/>
          <p:cNvSpPr/>
          <p:nvPr/>
        </p:nvSpPr>
        <p:spPr>
          <a:xfrm>
            <a:off x="365760" y="1143000"/>
            <a:ext cx="640080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44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</a:t>
            </a:r>
            <a:endParaRPr dirty="0" sz="4400" lang="en-US"/>
          </a:p>
        </p:txBody>
      </p:sp>
      <p:sp>
        <p:nvSpPr>
          <p:cNvPr id="1048632" name="Text 5"/>
          <p:cNvSpPr/>
          <p:nvPr/>
        </p:nvSpPr>
        <p:spPr>
          <a:xfrm>
            <a:off x="365760" y="2011680"/>
            <a:ext cx="640080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3000" i="1" lang="en-US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&amp;  OpenStack </a:t>
            </a:r>
            <a:endParaRPr dirty="0" sz="3000" lang="en-US"/>
          </a:p>
        </p:txBody>
      </p:sp>
      <p:sp>
        <p:nvSpPr>
          <p:cNvPr id="1048633" name="Shape 6"/>
          <p:cNvSpPr/>
          <p:nvPr/>
        </p:nvSpPr>
        <p:spPr>
          <a:xfrm>
            <a:off x="365760" y="2697480"/>
            <a:ext cx="3200400" cy="36576"/>
          </a:xfrm>
          <a:prstGeom prst="rect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grpSp>
        <p:nvGrpSpPr>
          <p:cNvPr id="28" name="Group 17"/>
          <p:cNvGrpSpPr/>
          <p:nvPr/>
        </p:nvGrpSpPr>
        <p:grpSpPr>
          <a:xfrm>
            <a:off x="365760" y="3429000"/>
            <a:ext cx="8412480" cy="822960"/>
            <a:chOff x="365760" y="3429000"/>
            <a:chExt cx="8412480" cy="822960"/>
          </a:xfrm>
        </p:grpSpPr>
        <p:sp>
          <p:nvSpPr>
            <p:cNvPr id="1048634" name="Shape 8"/>
            <p:cNvSpPr/>
            <p:nvPr/>
          </p:nvSpPr>
          <p:spPr>
            <a:xfrm>
              <a:off x="365760" y="3429000"/>
              <a:ext cx="4023360" cy="822960"/>
            </a:xfrm>
            <a:prstGeom prst="rect"/>
            <a:noFill/>
            <a:ln w="12700">
              <a:solidFill>
                <a:srgbClr val="1A73E8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r>
                <a:rPr dirty="0" lang="en-GB"/>
                <a:t>	     Hassan Ali Abrar</a:t>
              </a:r>
            </a:p>
          </p:txBody>
        </p:sp>
        <p:sp>
          <p:nvSpPr>
            <p:cNvPr id="1048635" name="Text 9"/>
            <p:cNvSpPr/>
            <p:nvPr/>
          </p:nvSpPr>
          <p:spPr>
            <a:xfrm>
              <a:off x="365760" y="3456432"/>
              <a:ext cx="4023360" cy="36576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endParaRPr dirty="0" sz="1400" lang="en-US"/>
            </a:p>
          </p:txBody>
        </p:sp>
        <p:sp>
          <p:nvSpPr>
            <p:cNvPr id="1048636" name="Text 10"/>
            <p:cNvSpPr/>
            <p:nvPr/>
          </p:nvSpPr>
          <p:spPr>
            <a:xfrm>
              <a:off x="365760" y="3822192"/>
              <a:ext cx="4023360" cy="347472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dirty="0" sz="9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Introduction · AWS · Comparison</a:t>
              </a:r>
              <a:endParaRPr dirty="0" sz="900" lang="en-US"/>
            </a:p>
          </p:txBody>
        </p:sp>
        <p:sp>
          <p:nvSpPr>
            <p:cNvPr id="1048637" name="Shape 11"/>
            <p:cNvSpPr/>
            <p:nvPr/>
          </p:nvSpPr>
          <p:spPr>
            <a:xfrm>
              <a:off x="4754880" y="3429000"/>
              <a:ext cx="4023360" cy="822960"/>
            </a:xfrm>
            <a:prstGeom prst="rect"/>
            <a:noFill/>
            <a:ln w="12700">
              <a:solidFill>
                <a:srgbClr val="1A73E8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r>
                <a:rPr dirty="0" lang="en-GB"/>
                <a:t>	   Malik Hassam Ullah</a:t>
              </a:r>
            </a:p>
          </p:txBody>
        </p:sp>
        <p:sp>
          <p:nvSpPr>
            <p:cNvPr id="1048638" name="Text 12"/>
            <p:cNvSpPr/>
            <p:nvPr/>
          </p:nvSpPr>
          <p:spPr>
            <a:xfrm>
              <a:off x="4754880" y="3456432"/>
              <a:ext cx="4023360" cy="36576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endParaRPr dirty="0" sz="1400" lang="en-US"/>
            </a:p>
          </p:txBody>
        </p:sp>
        <p:sp>
          <p:nvSpPr>
            <p:cNvPr id="1048639" name="Text 13"/>
            <p:cNvSpPr/>
            <p:nvPr/>
          </p:nvSpPr>
          <p:spPr>
            <a:xfrm>
              <a:off x="4754880" y="3822192"/>
              <a:ext cx="4023360" cy="347472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dirty="0" sz="9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OpenStack · Future · Conclusion</a:t>
              </a:r>
              <a:endParaRPr dirty="0" sz="900" lang="en-US"/>
            </a:p>
          </p:txBody>
        </p:sp>
      </p:grpSp>
      <p:sp>
        <p:nvSpPr>
          <p:cNvPr id="1048640" name="Shape 14"/>
          <p:cNvSpPr/>
          <p:nvPr/>
        </p:nvSpPr>
        <p:spPr>
          <a:xfrm>
            <a:off x="0" y="5102352"/>
            <a:ext cx="9144000" cy="41148"/>
          </a:xfrm>
          <a:prstGeom prst="rect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41" name="Shape 32"/>
          <p:cNvSpPr/>
          <p:nvPr/>
        </p:nvSpPr>
        <p:spPr>
          <a:xfrm>
            <a:off x="365760" y="4754880"/>
            <a:ext cx="8412480" cy="292608"/>
          </a:xfrm>
          <a:prstGeom prst="rect"/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365760" y="164592"/>
            <a:ext cx="1645920" cy="256032"/>
          </a:xfrm>
          <a:prstGeom prst="rect"/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577" name="Text 1"/>
          <p:cNvSpPr/>
          <p:nvPr/>
        </p:nvSpPr>
        <p:spPr>
          <a:xfrm>
            <a:off x="365760" y="164592"/>
            <a:ext cx="164592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00" lang="en-US">
                <a:solidFill>
                  <a:srgbClr val="FFFFFF"/>
                </a:solidFill>
              </a:rPr>
              <a:t>INTRODUCTION</a:t>
            </a:r>
            <a:endParaRPr dirty="0" sz="700" lang="en-US"/>
          </a:p>
        </p:txBody>
      </p:sp>
      <p:sp>
        <p:nvSpPr>
          <p:cNvPr id="1048578" name="Text 2"/>
          <p:cNvSpPr/>
          <p:nvPr/>
        </p:nvSpPr>
        <p:spPr>
          <a:xfrm>
            <a:off x="365760" y="502920"/>
            <a:ext cx="841248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Cloud Computing</a:t>
            </a:r>
            <a:endParaRPr dirty="0" sz="3000" lang="en-US"/>
          </a:p>
        </p:txBody>
      </p:sp>
      <p:sp>
        <p:nvSpPr>
          <p:cNvPr id="1048579" name="Text 3"/>
          <p:cNvSpPr/>
          <p:nvPr/>
        </p:nvSpPr>
        <p:spPr>
          <a:xfrm>
            <a:off x="365760" y="1115568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endParaRPr dirty="0" sz="800" lang="en-US"/>
          </a:p>
        </p:txBody>
      </p:sp>
      <p:grpSp>
        <p:nvGrpSpPr>
          <p:cNvPr id="16" name="Group 34"/>
          <p:cNvGrpSpPr/>
          <p:nvPr/>
        </p:nvGrpSpPr>
        <p:grpSpPr>
          <a:xfrm>
            <a:off x="365760" y="1115008"/>
            <a:ext cx="3749040" cy="3246120"/>
            <a:chOff x="365760" y="1417320"/>
            <a:chExt cx="3749040" cy="3246120"/>
          </a:xfrm>
        </p:grpSpPr>
        <p:sp>
          <p:nvSpPr>
            <p:cNvPr id="1048580" name="Shape 4"/>
            <p:cNvSpPr/>
            <p:nvPr/>
          </p:nvSpPr>
          <p:spPr>
            <a:xfrm>
              <a:off x="365760" y="1417320"/>
              <a:ext cx="3749040" cy="960120"/>
            </a:xfrm>
            <a:prstGeom prst="rect"/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pic>
          <p:nvPicPr>
            <p:cNvPr id="2097152" name="Image 0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/>
            <a:stretch>
              <a:fillRect/>
            </a:stretch>
          </p:blipFill>
          <p:spPr>
            <a:xfrm>
              <a:off x="548640" y="1600200"/>
              <a:ext cx="411480" cy="411480"/>
            </a:xfrm>
            <a:prstGeom prst="rect"/>
          </p:spPr>
        </p:pic>
        <p:sp>
          <p:nvSpPr>
            <p:cNvPr id="1048581" name="Text 5"/>
            <p:cNvSpPr/>
            <p:nvPr/>
          </p:nvSpPr>
          <p:spPr>
            <a:xfrm>
              <a:off x="1097280" y="1527048"/>
              <a:ext cx="283464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200" lang="en-US">
                  <a:solidFill>
                    <a:srgbClr val="0B1D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is Cloud?</a:t>
              </a:r>
              <a:endParaRPr dirty="0" sz="1200" lang="en-US"/>
            </a:p>
          </p:txBody>
        </p:sp>
        <p:sp>
          <p:nvSpPr>
            <p:cNvPr id="1048582" name="Text 6"/>
            <p:cNvSpPr/>
            <p:nvPr/>
          </p:nvSpPr>
          <p:spPr>
            <a:xfrm>
              <a:off x="1097280" y="1828800"/>
              <a:ext cx="2834640" cy="41148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00" lang="en-US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On-demand delivery of IT resources over the internet</a:t>
              </a:r>
              <a:endParaRPr dirty="0" sz="1000" lang="en-US"/>
            </a:p>
          </p:txBody>
        </p:sp>
        <p:sp>
          <p:nvSpPr>
            <p:cNvPr id="1048583" name="Shape 7"/>
            <p:cNvSpPr/>
            <p:nvPr/>
          </p:nvSpPr>
          <p:spPr>
            <a:xfrm>
              <a:off x="365760" y="2560320"/>
              <a:ext cx="3749040" cy="960120"/>
            </a:xfrm>
            <a:prstGeom prst="rect"/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pic>
          <p:nvPicPr>
            <p:cNvPr id="2097153" name="Image 1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548640" y="2743200"/>
              <a:ext cx="411480" cy="411480"/>
            </a:xfrm>
            <a:prstGeom prst="rect"/>
          </p:spPr>
        </p:pic>
        <p:sp>
          <p:nvSpPr>
            <p:cNvPr id="1048584" name="Text 8"/>
            <p:cNvSpPr/>
            <p:nvPr/>
          </p:nvSpPr>
          <p:spPr>
            <a:xfrm>
              <a:off x="1097280" y="2670048"/>
              <a:ext cx="283464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200" lang="en-US">
                  <a:solidFill>
                    <a:srgbClr val="0B1D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it works</a:t>
              </a:r>
              <a:endParaRPr dirty="0" sz="1200" lang="en-US"/>
            </a:p>
          </p:txBody>
        </p:sp>
        <p:sp>
          <p:nvSpPr>
            <p:cNvPr id="1048585" name="Text 9"/>
            <p:cNvSpPr/>
            <p:nvPr/>
          </p:nvSpPr>
          <p:spPr>
            <a:xfrm>
              <a:off x="1097280" y="2971800"/>
              <a:ext cx="2834640" cy="41148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00" lang="en-US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Shared pools of servers, storage &amp; networking</a:t>
              </a:r>
              <a:endParaRPr dirty="0" sz="1000" lang="en-US"/>
            </a:p>
          </p:txBody>
        </p:sp>
        <p:sp>
          <p:nvSpPr>
            <p:cNvPr id="1048586" name="Shape 10"/>
            <p:cNvSpPr/>
            <p:nvPr/>
          </p:nvSpPr>
          <p:spPr>
            <a:xfrm>
              <a:off x="365760" y="3703320"/>
              <a:ext cx="3749040" cy="960120"/>
            </a:xfrm>
            <a:prstGeom prst="rect"/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pic>
          <p:nvPicPr>
            <p:cNvPr id="2097154" name="Image 2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3"/>
            <a:stretch>
              <a:fillRect/>
            </a:stretch>
          </p:blipFill>
          <p:spPr>
            <a:xfrm>
              <a:off x="548640" y="3886200"/>
              <a:ext cx="411480" cy="411480"/>
            </a:xfrm>
            <a:prstGeom prst="rect"/>
          </p:spPr>
        </p:pic>
        <p:sp>
          <p:nvSpPr>
            <p:cNvPr id="1048587" name="Text 11"/>
            <p:cNvSpPr/>
            <p:nvPr/>
          </p:nvSpPr>
          <p:spPr>
            <a:xfrm>
              <a:off x="1097280" y="3813048"/>
              <a:ext cx="283464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200" lang="en-US">
                  <a:solidFill>
                    <a:srgbClr val="0B1D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 use it?</a:t>
              </a:r>
              <a:endParaRPr dirty="0" sz="1200" lang="en-US"/>
            </a:p>
          </p:txBody>
        </p:sp>
        <p:sp>
          <p:nvSpPr>
            <p:cNvPr id="1048588" name="Text 12"/>
            <p:cNvSpPr/>
            <p:nvPr/>
          </p:nvSpPr>
          <p:spPr>
            <a:xfrm>
              <a:off x="1097280" y="4114800"/>
              <a:ext cx="2834640" cy="41148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00" lang="en-US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Pay-as-you-go · Scale instantly · No hardware</a:t>
              </a:r>
              <a:endParaRPr dirty="0" sz="1000" lang="en-US"/>
            </a:p>
          </p:txBody>
        </p:sp>
      </p:grpSp>
      <p:grpSp>
        <p:nvGrpSpPr>
          <p:cNvPr id="17" name="Group 1"/>
          <p:cNvGrpSpPr/>
          <p:nvPr/>
        </p:nvGrpSpPr>
        <p:grpSpPr>
          <a:xfrm>
            <a:off x="4439038" y="1867195"/>
            <a:ext cx="4339202" cy="1951701"/>
            <a:chOff x="4601453" y="1476989"/>
            <a:chExt cx="4339202" cy="1951701"/>
          </a:xfrm>
        </p:grpSpPr>
        <p:sp>
          <p:nvSpPr>
            <p:cNvPr id="1048589" name="Shape 13"/>
            <p:cNvSpPr/>
            <p:nvPr/>
          </p:nvSpPr>
          <p:spPr>
            <a:xfrm>
              <a:off x="5029200" y="1554480"/>
              <a:ext cx="3566160" cy="1828800"/>
            </a:xfrm>
            <a:prstGeom prst="ellipse"/>
            <a:solidFill>
              <a:srgbClr val="1A73E8">
                <a:alpha val="18000"/>
              </a:srgbClr>
            </a:solidFill>
            <a:ln w="25400">
              <a:solidFill>
                <a:schemeClr val="tx1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pic>
          <p:nvPicPr>
            <p:cNvPr id="2097155" name="Image 3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4"/>
            <a:stretch>
              <a:fillRect/>
            </a:stretch>
          </p:blipFill>
          <p:spPr>
            <a:xfrm>
              <a:off x="6080760" y="1837508"/>
              <a:ext cx="1371600" cy="1005840"/>
            </a:xfrm>
            <a:prstGeom prst="rect"/>
          </p:spPr>
        </p:pic>
        <p:sp>
          <p:nvSpPr>
            <p:cNvPr id="1048590" name="Text 14"/>
            <p:cNvSpPr/>
            <p:nvPr/>
          </p:nvSpPr>
          <p:spPr>
            <a:xfrm>
              <a:off x="5760720" y="2377440"/>
              <a:ext cx="2011680" cy="32004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1300" lang="en-US">
                  <a:solidFill>
                    <a:schemeClr val="bg1"/>
                  </a:solidFill>
                </a:rPr>
                <a:t>CLOUD</a:t>
              </a:r>
              <a:endParaRPr dirty="0" sz="1300" lang="en-US">
                <a:solidFill>
                  <a:schemeClr val="bg1"/>
                </a:solidFill>
              </a:endParaRPr>
            </a:p>
          </p:txBody>
        </p:sp>
        <p:pic>
          <p:nvPicPr>
            <p:cNvPr id="2097156" name="Image 4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5"/>
            <a:stretch>
              <a:fillRect/>
            </a:stretch>
          </p:blipFill>
          <p:spPr>
            <a:xfrm>
              <a:off x="4608576" y="1543532"/>
              <a:ext cx="384048" cy="384048"/>
            </a:xfrm>
            <a:prstGeom prst="rect"/>
          </p:spPr>
        </p:pic>
        <p:sp>
          <p:nvSpPr>
            <p:cNvPr id="1048591" name="Shape 15"/>
            <p:cNvSpPr/>
            <p:nvPr/>
          </p:nvSpPr>
          <p:spPr>
            <a:xfrm>
              <a:off x="5070192" y="1735556"/>
              <a:ext cx="640080" cy="0"/>
            </a:xfrm>
            <a:prstGeom prst="line"/>
            <a:noFill/>
            <a:ln w="12700">
              <a:solidFill>
                <a:srgbClr val="94A3B8"/>
              </a:solidFill>
              <a:prstDash val="sysDash"/>
            </a:ln>
          </p:spPr>
          <p:txBody>
            <a:bodyPr/>
            <a:p>
              <a:endParaRPr lang="en-GB"/>
            </a:p>
          </p:txBody>
        </p:sp>
        <p:pic>
          <p:nvPicPr>
            <p:cNvPr id="2097157" name="Image 5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8531352" y="1476989"/>
              <a:ext cx="384048" cy="384048"/>
            </a:xfrm>
            <a:prstGeom prst="rect"/>
          </p:spPr>
        </p:pic>
        <p:sp>
          <p:nvSpPr>
            <p:cNvPr id="1048592" name="Shape 16"/>
            <p:cNvSpPr/>
            <p:nvPr/>
          </p:nvSpPr>
          <p:spPr>
            <a:xfrm>
              <a:off x="7805556" y="1706429"/>
              <a:ext cx="640080" cy="0"/>
            </a:xfrm>
            <a:prstGeom prst="line"/>
            <a:noFill/>
            <a:ln w="12700">
              <a:solidFill>
                <a:srgbClr val="94A3B8"/>
              </a:solidFill>
              <a:prstDash val="sysDash"/>
            </a:ln>
          </p:spPr>
          <p:txBody>
            <a:bodyPr/>
            <a:p>
              <a:endParaRPr lang="en-GB"/>
            </a:p>
          </p:txBody>
        </p:sp>
        <p:pic>
          <p:nvPicPr>
            <p:cNvPr id="2097158" name="Image 6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6"/>
            <a:stretch>
              <a:fillRect/>
            </a:stretch>
          </p:blipFill>
          <p:spPr>
            <a:xfrm>
              <a:off x="4601453" y="3044642"/>
              <a:ext cx="384048" cy="384048"/>
            </a:xfrm>
            <a:prstGeom prst="rect"/>
          </p:spPr>
        </p:pic>
        <p:sp>
          <p:nvSpPr>
            <p:cNvPr id="1048593" name="Shape 17"/>
            <p:cNvSpPr/>
            <p:nvPr/>
          </p:nvSpPr>
          <p:spPr>
            <a:xfrm>
              <a:off x="5070192" y="3200430"/>
              <a:ext cx="640080" cy="0"/>
            </a:xfrm>
            <a:prstGeom prst="line"/>
            <a:noFill/>
            <a:ln w="12700">
              <a:solidFill>
                <a:srgbClr val="94A3B8"/>
              </a:solidFill>
              <a:prstDash val="sysDash"/>
            </a:ln>
          </p:spPr>
          <p:txBody>
            <a:bodyPr/>
            <a:p>
              <a:endParaRPr lang="en-GB"/>
            </a:p>
          </p:txBody>
        </p:sp>
        <p:pic>
          <p:nvPicPr>
            <p:cNvPr id="2097159" name="Image 7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7"/>
            <a:stretch>
              <a:fillRect/>
            </a:stretch>
          </p:blipFill>
          <p:spPr>
            <a:xfrm>
              <a:off x="8556607" y="3022683"/>
              <a:ext cx="384048" cy="384048"/>
            </a:xfrm>
            <a:prstGeom prst="rect"/>
          </p:spPr>
        </p:pic>
        <p:sp>
          <p:nvSpPr>
            <p:cNvPr id="1048594" name="Shape 18"/>
            <p:cNvSpPr/>
            <p:nvPr/>
          </p:nvSpPr>
          <p:spPr>
            <a:xfrm>
              <a:off x="7827264" y="3232746"/>
              <a:ext cx="640080" cy="0"/>
            </a:xfrm>
            <a:prstGeom prst="line"/>
            <a:noFill/>
            <a:ln w="12700">
              <a:solidFill>
                <a:srgbClr val="94A3B8"/>
              </a:solidFill>
              <a:prstDash val="sysDash"/>
            </a:ln>
          </p:spPr>
          <p:txBody>
            <a:bodyPr/>
            <a:p>
              <a:endParaRPr lang="en-GB"/>
            </a:p>
          </p:txBody>
        </p:sp>
      </p:grpSp>
      <p:grpSp>
        <p:nvGrpSpPr>
          <p:cNvPr id="18" name="Group 35"/>
          <p:cNvGrpSpPr/>
          <p:nvPr/>
        </p:nvGrpSpPr>
        <p:grpSpPr>
          <a:xfrm>
            <a:off x="438912" y="4609634"/>
            <a:ext cx="8266176" cy="320040"/>
            <a:chOff x="365760" y="4709160"/>
            <a:chExt cx="8266176" cy="320040"/>
          </a:xfrm>
        </p:grpSpPr>
        <p:sp>
          <p:nvSpPr>
            <p:cNvPr id="1048595" name="Shape 19"/>
            <p:cNvSpPr/>
            <p:nvPr/>
          </p:nvSpPr>
          <p:spPr>
            <a:xfrm>
              <a:off x="365760" y="4709160"/>
              <a:ext cx="2651760" cy="320040"/>
            </a:xfrm>
            <a:prstGeom prst="rect"/>
            <a:solidFill>
              <a:srgbClr val="0B1D3A"/>
            </a:solidFill>
            <a:ln w="12700">
              <a:solidFill>
                <a:srgbClr val="0B1D3A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596" name="Text 20"/>
            <p:cNvSpPr/>
            <p:nvPr/>
          </p:nvSpPr>
          <p:spPr>
            <a:xfrm>
              <a:off x="365760" y="4709160"/>
              <a:ext cx="2651760" cy="32004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850" lang="en-US">
                  <a:solidFill>
                    <a:srgbClr val="FFFFFF"/>
                  </a:solidFill>
                </a:rPr>
                <a:t>$623B Market by 2030</a:t>
              </a:r>
              <a:endParaRPr dirty="0" sz="850" lang="en-US"/>
            </a:p>
          </p:txBody>
        </p:sp>
        <p:sp>
          <p:nvSpPr>
            <p:cNvPr id="1048597" name="Shape 21"/>
            <p:cNvSpPr/>
            <p:nvPr/>
          </p:nvSpPr>
          <p:spPr>
            <a:xfrm>
              <a:off x="3172968" y="4709160"/>
              <a:ext cx="2651760" cy="320040"/>
            </a:xfrm>
            <a:prstGeom prst="rect"/>
            <a:solidFill>
              <a:srgbClr val="0B1D3A"/>
            </a:solidFill>
            <a:ln w="12700">
              <a:solidFill>
                <a:srgbClr val="0B1D3A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598" name="Text 22"/>
            <p:cNvSpPr/>
            <p:nvPr/>
          </p:nvSpPr>
          <p:spPr>
            <a:xfrm>
              <a:off x="3172968" y="4709160"/>
              <a:ext cx="2651760" cy="32004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850" lang="en-US">
                  <a:solidFill>
                    <a:srgbClr val="FFFFFF"/>
                  </a:solidFill>
                </a:rPr>
                <a:t>94% Enterprises use Cloud</a:t>
              </a:r>
              <a:endParaRPr dirty="0" sz="850" lang="en-US"/>
            </a:p>
          </p:txBody>
        </p:sp>
        <p:sp>
          <p:nvSpPr>
            <p:cNvPr id="1048599" name="Shape 23"/>
            <p:cNvSpPr/>
            <p:nvPr/>
          </p:nvSpPr>
          <p:spPr>
            <a:xfrm>
              <a:off x="5980176" y="4709160"/>
              <a:ext cx="2651760" cy="320040"/>
            </a:xfrm>
            <a:prstGeom prst="rect"/>
            <a:solidFill>
              <a:srgbClr val="0B1D3A"/>
            </a:solidFill>
            <a:ln w="12700">
              <a:solidFill>
                <a:srgbClr val="0B1D3A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600" name="Text 24"/>
            <p:cNvSpPr/>
            <p:nvPr/>
          </p:nvSpPr>
          <p:spPr>
            <a:xfrm>
              <a:off x="5980176" y="4709160"/>
              <a:ext cx="2651760" cy="32004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850" lang="en-US">
                  <a:solidFill>
                    <a:srgbClr val="FFFFFF"/>
                  </a:solidFill>
                </a:rPr>
                <a:t>3 Main Models: IaaS · PaaS · SaaS</a:t>
              </a:r>
              <a:endParaRPr dirty="0" sz="850"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Shape 0"/>
          <p:cNvSpPr/>
          <p:nvPr/>
        </p:nvSpPr>
        <p:spPr>
          <a:xfrm>
            <a:off x="365760" y="164592"/>
            <a:ext cx="1645920" cy="256032"/>
          </a:xfrm>
          <a:prstGeom prst="rect"/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05" name="Text 1"/>
          <p:cNvSpPr/>
          <p:nvPr/>
        </p:nvSpPr>
        <p:spPr>
          <a:xfrm>
            <a:off x="365760" y="164592"/>
            <a:ext cx="164592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00" lang="en-US">
                <a:solidFill>
                  <a:srgbClr val="FFFFFF"/>
                </a:solidFill>
              </a:rPr>
              <a:t>CLOUD PLATFORMS</a:t>
            </a:r>
            <a:endParaRPr dirty="0" sz="700" lang="en-US"/>
          </a:p>
        </p:txBody>
      </p:sp>
      <p:sp>
        <p:nvSpPr>
          <p:cNvPr id="1048606" name="Text 2"/>
          <p:cNvSpPr/>
          <p:nvPr/>
        </p:nvSpPr>
        <p:spPr>
          <a:xfrm>
            <a:off x="365760" y="502920"/>
            <a:ext cx="84124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Cloud Platforms?</a:t>
            </a:r>
            <a:endParaRPr dirty="0" sz="3000" lang="en-US"/>
          </a:p>
        </p:txBody>
      </p:sp>
      <p:sp>
        <p:nvSpPr>
          <p:cNvPr id="1048607" name="Text 3"/>
          <p:cNvSpPr/>
          <p:nvPr/>
        </p:nvSpPr>
        <p:spPr>
          <a:xfrm>
            <a:off x="365760" y="1051560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endParaRPr dirty="0" sz="800" lang="en-US"/>
          </a:p>
        </p:txBody>
      </p:sp>
      <p:sp>
        <p:nvSpPr>
          <p:cNvPr id="1048608" name="Text 4"/>
          <p:cNvSpPr/>
          <p:nvPr/>
        </p:nvSpPr>
        <p:spPr>
          <a:xfrm>
            <a:off x="365760" y="1325880"/>
            <a:ext cx="393192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platform provides the infrastructure, tools, and services</a:t>
            </a:r>
            <a:endParaRPr dirty="0" sz="1150" lang="en-US"/>
          </a:p>
          <a:p>
            <a:pPr indent="0" marL="0">
              <a:buNone/>
            </a:pPr>
            <a:r>
              <a:rPr dirty="0" sz="1150" lang="en-US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build, deploy, and manage applications over the internet.</a:t>
            </a:r>
            <a:endParaRPr dirty="0" sz="1150" lang="en-US"/>
          </a:p>
        </p:txBody>
      </p:sp>
      <p:grpSp>
        <p:nvGrpSpPr>
          <p:cNvPr id="24" name="Group 1"/>
          <p:cNvGrpSpPr/>
          <p:nvPr/>
        </p:nvGrpSpPr>
        <p:grpSpPr>
          <a:xfrm>
            <a:off x="3968496" y="1737359"/>
            <a:ext cx="4736592" cy="2734056"/>
            <a:chOff x="4315968" y="1280160"/>
            <a:chExt cx="4736592" cy="2734056"/>
          </a:xfrm>
        </p:grpSpPr>
        <p:sp>
          <p:nvSpPr>
            <p:cNvPr id="1048609" name="Shape 5"/>
            <p:cNvSpPr/>
            <p:nvPr/>
          </p:nvSpPr>
          <p:spPr>
            <a:xfrm>
              <a:off x="5029200" y="1280160"/>
              <a:ext cx="3474720" cy="713232"/>
            </a:xfrm>
            <a:prstGeom prst="rect"/>
            <a:solidFill>
              <a:srgbClr val="1A73E8"/>
            </a:solidFill>
            <a:ln w="12700">
              <a:solidFill>
                <a:srgbClr val="1A73E8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610" name="Text 6"/>
            <p:cNvSpPr/>
            <p:nvPr/>
          </p:nvSpPr>
          <p:spPr>
            <a:xfrm>
              <a:off x="5138928" y="1325880"/>
              <a:ext cx="118872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30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SaaS</a:t>
              </a:r>
              <a:endParaRPr dirty="0" sz="1300" lang="en-US"/>
            </a:p>
          </p:txBody>
        </p:sp>
        <p:sp>
          <p:nvSpPr>
            <p:cNvPr id="1048611" name="Text 7"/>
            <p:cNvSpPr/>
            <p:nvPr/>
          </p:nvSpPr>
          <p:spPr>
            <a:xfrm>
              <a:off x="5138928" y="1627632"/>
              <a:ext cx="329184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D0E8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Gmail · Zoom · Salesforce</a:t>
              </a:r>
              <a:endParaRPr dirty="0" sz="900" lang="en-US"/>
            </a:p>
          </p:txBody>
        </p:sp>
        <p:sp>
          <p:nvSpPr>
            <p:cNvPr id="1048612" name="Shape 8"/>
            <p:cNvSpPr/>
            <p:nvPr/>
          </p:nvSpPr>
          <p:spPr>
            <a:xfrm>
              <a:off x="4754880" y="2084832"/>
              <a:ext cx="4023360" cy="713232"/>
            </a:xfrm>
            <a:prstGeom prst="rect"/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613" name="Text 9"/>
            <p:cNvSpPr/>
            <p:nvPr/>
          </p:nvSpPr>
          <p:spPr>
            <a:xfrm>
              <a:off x="4864608" y="2130552"/>
              <a:ext cx="118872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30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PaaS</a:t>
              </a:r>
              <a:endParaRPr dirty="0" sz="1300" lang="en-US"/>
            </a:p>
          </p:txBody>
        </p:sp>
        <p:sp>
          <p:nvSpPr>
            <p:cNvPr id="1048614" name="Text 10"/>
            <p:cNvSpPr/>
            <p:nvPr/>
          </p:nvSpPr>
          <p:spPr>
            <a:xfrm>
              <a:off x="4864608" y="2432304"/>
              <a:ext cx="384048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D0E8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Heroku · App Engine · OpenShift</a:t>
              </a:r>
              <a:endParaRPr dirty="0" sz="900" lang="en-US"/>
            </a:p>
          </p:txBody>
        </p:sp>
        <p:sp>
          <p:nvSpPr>
            <p:cNvPr id="1048615" name="Shape 11"/>
            <p:cNvSpPr/>
            <p:nvPr/>
          </p:nvSpPr>
          <p:spPr>
            <a:xfrm>
              <a:off x="4480560" y="2889504"/>
              <a:ext cx="4572000" cy="713232"/>
            </a:xfrm>
            <a:prstGeom prst="rect"/>
            <a:solidFill>
              <a:srgbClr val="0F3460"/>
            </a:solidFill>
            <a:ln w="12700">
              <a:solidFill>
                <a:srgbClr val="0F3460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616" name="Text 12"/>
            <p:cNvSpPr/>
            <p:nvPr/>
          </p:nvSpPr>
          <p:spPr>
            <a:xfrm>
              <a:off x="4590288" y="2935224"/>
              <a:ext cx="118872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30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IaaS</a:t>
              </a:r>
              <a:endParaRPr dirty="0" sz="1300" lang="en-US"/>
            </a:p>
          </p:txBody>
        </p:sp>
        <p:sp>
          <p:nvSpPr>
            <p:cNvPr id="1048617" name="Text 13"/>
            <p:cNvSpPr/>
            <p:nvPr/>
          </p:nvSpPr>
          <p:spPr>
            <a:xfrm>
              <a:off x="4590288" y="3236976"/>
              <a:ext cx="438912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D0E8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AWS EC2 · Azure VMs · OpenStack</a:t>
              </a:r>
              <a:endParaRPr dirty="0" sz="900" lang="en-US"/>
            </a:p>
          </p:txBody>
        </p:sp>
        <p:sp>
          <p:nvSpPr>
            <p:cNvPr id="1048619" name="Text 15"/>
            <p:cNvSpPr/>
            <p:nvPr/>
          </p:nvSpPr>
          <p:spPr>
            <a:xfrm>
              <a:off x="4315968" y="3739896"/>
              <a:ext cx="118872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300" lang="en-US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On-Premise</a:t>
              </a:r>
              <a:endParaRPr dirty="0" sz="1300" lang="en-US"/>
            </a:p>
          </p:txBody>
        </p:sp>
      </p:grpSp>
      <p:sp>
        <p:nvSpPr>
          <p:cNvPr id="1048621" name="Text 17"/>
          <p:cNvSpPr/>
          <p:nvPr/>
        </p:nvSpPr>
        <p:spPr>
          <a:xfrm rot="16200000">
            <a:off x="8247888" y="1673025"/>
            <a:ext cx="914400" cy="2011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00" lang="en-US">
                <a:solidFill>
                  <a:srgbClr val="94A3B8"/>
                </a:solidFill>
              </a:rPr>
              <a:t>← More Managed</a:t>
            </a:r>
            <a:endParaRPr dirty="0" sz="800" lang="en-US"/>
          </a:p>
        </p:txBody>
      </p:sp>
      <p:sp>
        <p:nvSpPr>
          <p:cNvPr id="1048622" name="Text 18"/>
          <p:cNvSpPr/>
          <p:nvPr/>
        </p:nvSpPr>
        <p:spPr>
          <a:xfrm>
            <a:off x="365760" y="2286000"/>
            <a:ext cx="3931920" cy="2286000"/>
          </a:xfrm>
          <a:prstGeom prst="rect"/>
          <a:noFill/>
        </p:spPr>
        <p:txBody>
          <a:bodyPr anchor="ctr" rtlCol="0" wrap="square"/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100" lang="en-US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compute, storage &amp; networking</a:t>
            </a:r>
            <a:endParaRPr dirty="0" sz="11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100" lang="en-US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rapid application deployment</a:t>
            </a:r>
            <a:endParaRPr dirty="0" sz="11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100" lang="en-US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Private &amp; Hybrid types</a:t>
            </a:r>
            <a:endParaRPr dirty="0" sz="1100" lang="en-US"/>
          </a:p>
          <a:p>
            <a:pPr indent="-342900" marL="342900">
              <a:spcAft>
                <a:spcPts val="600"/>
              </a:spcAft>
              <a:buSzPct val="100000"/>
              <a:buChar char="•"/>
            </a:pPr>
            <a:r>
              <a:rPr dirty="0" sz="1100" lang="en-US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IT capital expenditure</a:t>
            </a:r>
            <a:endParaRPr dirty="0" sz="1100" lang="en-US"/>
          </a:p>
        </p:txBody>
      </p:sp>
      <p:sp>
        <p:nvSpPr>
          <p:cNvPr id="1048623" name="Shape 32"/>
          <p:cNvSpPr/>
          <p:nvPr/>
        </p:nvSpPr>
        <p:spPr>
          <a:xfrm>
            <a:off x="365760" y="4823460"/>
            <a:ext cx="8412480" cy="292608"/>
          </a:xfrm>
          <a:prstGeom prst="rect"/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Shape 0"/>
          <p:cNvSpPr/>
          <p:nvPr/>
        </p:nvSpPr>
        <p:spPr>
          <a:xfrm>
            <a:off x="365760" y="164592"/>
            <a:ext cx="1645920" cy="256032"/>
          </a:xfrm>
          <a:prstGeom prst="rect"/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46" name="Text 1"/>
          <p:cNvSpPr/>
          <p:nvPr/>
        </p:nvSpPr>
        <p:spPr>
          <a:xfrm>
            <a:off x="365760" y="164592"/>
            <a:ext cx="164592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00" lang="en-US">
                <a:solidFill>
                  <a:srgbClr val="FFFFFF"/>
                </a:solidFill>
              </a:rPr>
              <a:t>AWS SECTION</a:t>
            </a:r>
            <a:endParaRPr dirty="0" sz="700" lang="en-US"/>
          </a:p>
        </p:txBody>
      </p:sp>
      <p:sp>
        <p:nvSpPr>
          <p:cNvPr id="1048647" name="Text 2"/>
          <p:cNvSpPr/>
          <p:nvPr/>
        </p:nvSpPr>
        <p:spPr>
          <a:xfrm>
            <a:off x="365760" y="502920"/>
            <a:ext cx="841248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AWS</a:t>
            </a:r>
            <a:endParaRPr dirty="0" sz="3200" lang="en-US"/>
          </a:p>
        </p:txBody>
      </p:sp>
      <p:sp>
        <p:nvSpPr>
          <p:cNvPr id="1048648" name="Text 3"/>
          <p:cNvSpPr/>
          <p:nvPr/>
        </p:nvSpPr>
        <p:spPr>
          <a:xfrm>
            <a:off x="365760" y="1097280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endParaRPr dirty="0" sz="800" lang="en-US"/>
          </a:p>
        </p:txBody>
      </p:sp>
      <p:sp>
        <p:nvSpPr>
          <p:cNvPr id="1048649" name="Text 7"/>
          <p:cNvSpPr/>
          <p:nvPr/>
        </p:nvSpPr>
        <p:spPr>
          <a:xfrm>
            <a:off x="365760" y="1371600"/>
            <a:ext cx="18288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9900"/>
                </a:solidFill>
              </a:rPr>
              <a:t>Timeline</a:t>
            </a:r>
            <a:endParaRPr dirty="0" sz="1100" lang="en-US"/>
          </a:p>
        </p:txBody>
      </p:sp>
      <p:sp>
        <p:nvSpPr>
          <p:cNvPr id="1048650" name="Shape 8"/>
          <p:cNvSpPr/>
          <p:nvPr/>
        </p:nvSpPr>
        <p:spPr>
          <a:xfrm>
            <a:off x="685800" y="1874520"/>
            <a:ext cx="0" cy="2926080"/>
          </a:xfrm>
          <a:prstGeom prst="line"/>
          <a:noFill/>
          <a:ln w="25400">
            <a:solidFill>
              <a:srgbClr val="FF9900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51" name="Shape 9"/>
          <p:cNvSpPr/>
          <p:nvPr/>
        </p:nvSpPr>
        <p:spPr>
          <a:xfrm>
            <a:off x="566928" y="1764792"/>
            <a:ext cx="237744" cy="237744"/>
          </a:xfrm>
          <a:prstGeom prst="ellipse"/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52" name="Text 10"/>
          <p:cNvSpPr/>
          <p:nvPr/>
        </p:nvSpPr>
        <p:spPr>
          <a:xfrm>
            <a:off x="914400" y="1737360"/>
            <a:ext cx="777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dirty="0" sz="1100" lang="en-US"/>
          </a:p>
        </p:txBody>
      </p:sp>
      <p:sp>
        <p:nvSpPr>
          <p:cNvPr id="1048653" name="Text 11"/>
          <p:cNvSpPr/>
          <p:nvPr/>
        </p:nvSpPr>
        <p:spPr>
          <a:xfrm>
            <a:off x="1737360" y="1737360"/>
            <a:ext cx="34747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AWS Launched (S3 + EC2)</a:t>
            </a:r>
            <a:endParaRPr dirty="0" sz="1000" lang="en-US"/>
          </a:p>
        </p:txBody>
      </p:sp>
      <p:sp>
        <p:nvSpPr>
          <p:cNvPr id="1048654" name="Shape 12"/>
          <p:cNvSpPr/>
          <p:nvPr/>
        </p:nvSpPr>
        <p:spPr>
          <a:xfrm>
            <a:off x="566928" y="2359152"/>
            <a:ext cx="237744" cy="237744"/>
          </a:xfrm>
          <a:prstGeom prst="ellipse"/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55" name="Text 13"/>
          <p:cNvSpPr/>
          <p:nvPr/>
        </p:nvSpPr>
        <p:spPr>
          <a:xfrm>
            <a:off x="914400" y="2331720"/>
            <a:ext cx="777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dirty="0" sz="1100" lang="en-US"/>
          </a:p>
        </p:txBody>
      </p:sp>
      <p:sp>
        <p:nvSpPr>
          <p:cNvPr id="1048656" name="Text 14"/>
          <p:cNvSpPr/>
          <p:nvPr/>
        </p:nvSpPr>
        <p:spPr>
          <a:xfrm>
            <a:off x="1737360" y="2331720"/>
            <a:ext cx="34747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Amazon.com migrates to AWS</a:t>
            </a:r>
            <a:endParaRPr dirty="0" sz="1000" lang="en-US"/>
          </a:p>
        </p:txBody>
      </p:sp>
      <p:sp>
        <p:nvSpPr>
          <p:cNvPr id="1048657" name="Shape 15"/>
          <p:cNvSpPr/>
          <p:nvPr/>
        </p:nvSpPr>
        <p:spPr>
          <a:xfrm>
            <a:off x="566928" y="2953512"/>
            <a:ext cx="237744" cy="237744"/>
          </a:xfrm>
          <a:prstGeom prst="ellipse"/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58" name="Text 16"/>
          <p:cNvSpPr/>
          <p:nvPr/>
        </p:nvSpPr>
        <p:spPr>
          <a:xfrm>
            <a:off x="914400" y="2926080"/>
            <a:ext cx="777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dirty="0" sz="1100" lang="en-US"/>
          </a:p>
        </p:txBody>
      </p:sp>
      <p:sp>
        <p:nvSpPr>
          <p:cNvPr id="1048659" name="Text 17"/>
          <p:cNvSpPr/>
          <p:nvPr/>
        </p:nvSpPr>
        <p:spPr>
          <a:xfrm>
            <a:off x="1737360" y="2926080"/>
            <a:ext cx="34747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Lambda — Serverless born</a:t>
            </a:r>
            <a:endParaRPr dirty="0" sz="1000" lang="en-US"/>
          </a:p>
        </p:txBody>
      </p:sp>
      <p:sp>
        <p:nvSpPr>
          <p:cNvPr id="1048660" name="Shape 18"/>
          <p:cNvSpPr/>
          <p:nvPr/>
        </p:nvSpPr>
        <p:spPr>
          <a:xfrm>
            <a:off x="566928" y="3547872"/>
            <a:ext cx="237744" cy="237744"/>
          </a:xfrm>
          <a:prstGeom prst="ellipse"/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61" name="Text 19"/>
          <p:cNvSpPr/>
          <p:nvPr/>
        </p:nvSpPr>
        <p:spPr>
          <a:xfrm>
            <a:off x="914400" y="3520440"/>
            <a:ext cx="777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dirty="0" sz="1100" lang="en-US"/>
          </a:p>
        </p:txBody>
      </p:sp>
      <p:sp>
        <p:nvSpPr>
          <p:cNvPr id="1048662" name="Text 20"/>
          <p:cNvSpPr/>
          <p:nvPr/>
        </p:nvSpPr>
        <p:spPr>
          <a:xfrm>
            <a:off x="1737360" y="3520440"/>
            <a:ext cx="34747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$17.5B revenue milestone</a:t>
            </a:r>
            <a:endParaRPr dirty="0" sz="1000" lang="en-US"/>
          </a:p>
        </p:txBody>
      </p:sp>
      <p:sp>
        <p:nvSpPr>
          <p:cNvPr id="1048663" name="Shape 21"/>
          <p:cNvSpPr/>
          <p:nvPr/>
        </p:nvSpPr>
        <p:spPr>
          <a:xfrm>
            <a:off x="566928" y="4142232"/>
            <a:ext cx="237744" cy="237744"/>
          </a:xfrm>
          <a:prstGeom prst="ellipse"/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664" name="Text 22"/>
          <p:cNvSpPr/>
          <p:nvPr/>
        </p:nvSpPr>
        <p:spPr>
          <a:xfrm>
            <a:off x="914400" y="4114800"/>
            <a:ext cx="777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dirty="0" sz="1100" lang="en-US"/>
          </a:p>
        </p:txBody>
      </p:sp>
      <p:sp>
        <p:nvSpPr>
          <p:cNvPr id="1048665" name="Text 23"/>
          <p:cNvSpPr/>
          <p:nvPr/>
        </p:nvSpPr>
        <p:spPr>
          <a:xfrm>
            <a:off x="1737360" y="4114800"/>
            <a:ext cx="34747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$107B+ annual revenue</a:t>
            </a:r>
            <a:endParaRPr dirty="0" sz="1000" lang="en-US"/>
          </a:p>
        </p:txBody>
      </p:sp>
      <p:grpSp>
        <p:nvGrpSpPr>
          <p:cNvPr id="32" name="Group 1"/>
          <p:cNvGrpSpPr/>
          <p:nvPr/>
        </p:nvGrpSpPr>
        <p:grpSpPr>
          <a:xfrm>
            <a:off x="5532120" y="502920"/>
            <a:ext cx="3246120" cy="4069080"/>
            <a:chOff x="5760720" y="457200"/>
            <a:chExt cx="3246120" cy="4069080"/>
          </a:xfrm>
        </p:grpSpPr>
        <p:sp>
          <p:nvSpPr>
            <p:cNvPr id="1048666" name="Shape 4"/>
            <p:cNvSpPr/>
            <p:nvPr/>
          </p:nvSpPr>
          <p:spPr>
            <a:xfrm>
              <a:off x="5943600" y="457200"/>
              <a:ext cx="2834640" cy="1097280"/>
            </a:xfrm>
            <a:prstGeom prst="rect"/>
            <a:solidFill>
              <a:srgbClr val="FF9900"/>
            </a:solidFill>
            <a:ln w="12700">
              <a:solidFill>
                <a:srgbClr val="FF990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667" name="Text 5"/>
            <p:cNvSpPr/>
            <p:nvPr/>
          </p:nvSpPr>
          <p:spPr>
            <a:xfrm>
              <a:off x="5943600" y="457200"/>
              <a:ext cx="2834640" cy="109728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4000" lang="en-US">
                  <a:solidFill>
                    <a:srgbClr val="0B1D3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aws</a:t>
              </a:r>
              <a:endParaRPr dirty="0" sz="4000" lang="en-US"/>
            </a:p>
          </p:txBody>
        </p:sp>
        <p:sp>
          <p:nvSpPr>
            <p:cNvPr id="1048668" name="Text 6"/>
            <p:cNvSpPr/>
            <p:nvPr/>
          </p:nvSpPr>
          <p:spPr>
            <a:xfrm>
              <a:off x="5943600" y="1600200"/>
              <a:ext cx="2834640" cy="27432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dirty="0" sz="900" lang="en-US">
                  <a:solidFill>
                    <a:srgbClr val="FF9900"/>
                  </a:solidFill>
                </a:rPr>
                <a:t>Amazon Web Services</a:t>
              </a:r>
              <a:endParaRPr dirty="0" sz="900" lang="en-US"/>
            </a:p>
          </p:txBody>
        </p:sp>
        <p:sp>
          <p:nvSpPr>
            <p:cNvPr id="1048669" name="Shape 24"/>
            <p:cNvSpPr/>
            <p:nvPr/>
          </p:nvSpPr>
          <p:spPr>
            <a:xfrm>
              <a:off x="5760720" y="2057400"/>
              <a:ext cx="1554480" cy="1097280"/>
            </a:xfrm>
            <a:prstGeom prst="rect"/>
            <a:noFill/>
            <a:ln w="12700">
              <a:solidFill>
                <a:srgbClr val="FF990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670" name="Text 25"/>
            <p:cNvSpPr/>
            <p:nvPr/>
          </p:nvSpPr>
          <p:spPr>
            <a:xfrm>
              <a:off x="5760720" y="2194560"/>
              <a:ext cx="1554480" cy="45720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2600" lang="en-US">
                  <a:solidFill>
                    <a:srgbClr val="FF99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31%</a:t>
              </a:r>
              <a:endParaRPr dirty="0" sz="2600" lang="en-US"/>
            </a:p>
          </p:txBody>
        </p:sp>
        <p:sp>
          <p:nvSpPr>
            <p:cNvPr id="1048671" name="Text 26"/>
            <p:cNvSpPr/>
            <p:nvPr/>
          </p:nvSpPr>
          <p:spPr>
            <a:xfrm>
              <a:off x="5760720" y="2651760"/>
              <a:ext cx="1554480" cy="41148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dirty="0" sz="800" lang="en-US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Global Cloud Market Share</a:t>
              </a:r>
              <a:endParaRPr dirty="0" sz="800" lang="en-US"/>
            </a:p>
          </p:txBody>
        </p:sp>
        <p:sp>
          <p:nvSpPr>
            <p:cNvPr id="1048672" name="Shape 27"/>
            <p:cNvSpPr/>
            <p:nvPr/>
          </p:nvSpPr>
          <p:spPr>
            <a:xfrm>
              <a:off x="7452360" y="2057400"/>
              <a:ext cx="1554480" cy="1097280"/>
            </a:xfrm>
            <a:prstGeom prst="rect"/>
            <a:noFill/>
            <a:ln w="12700">
              <a:solidFill>
                <a:srgbClr val="FF990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673" name="Text 28"/>
            <p:cNvSpPr/>
            <p:nvPr/>
          </p:nvSpPr>
          <p:spPr>
            <a:xfrm>
              <a:off x="7452360" y="2194560"/>
              <a:ext cx="1554480" cy="45720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2600" lang="en-US">
                  <a:solidFill>
                    <a:srgbClr val="FF99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#1</a:t>
              </a:r>
              <a:endParaRPr dirty="0" sz="2600" lang="en-US"/>
            </a:p>
          </p:txBody>
        </p:sp>
        <p:sp>
          <p:nvSpPr>
            <p:cNvPr id="1048674" name="Text 29"/>
            <p:cNvSpPr/>
            <p:nvPr/>
          </p:nvSpPr>
          <p:spPr>
            <a:xfrm>
              <a:off x="7452360" y="2651760"/>
              <a:ext cx="1554480" cy="41148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dirty="0" sz="800" lang="en-US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Cloud Provider 13 Years</a:t>
              </a:r>
              <a:endParaRPr dirty="0" sz="800" lang="en-US"/>
            </a:p>
          </p:txBody>
        </p:sp>
        <p:sp>
          <p:nvSpPr>
            <p:cNvPr id="1048675" name="Shape 30"/>
            <p:cNvSpPr/>
            <p:nvPr/>
          </p:nvSpPr>
          <p:spPr>
            <a:xfrm>
              <a:off x="5760720" y="3429000"/>
              <a:ext cx="1554480" cy="1097280"/>
            </a:xfrm>
            <a:prstGeom prst="rect"/>
            <a:noFill/>
            <a:ln w="12700">
              <a:solidFill>
                <a:srgbClr val="FF990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676" name="Text 31"/>
            <p:cNvSpPr/>
            <p:nvPr/>
          </p:nvSpPr>
          <p:spPr>
            <a:xfrm>
              <a:off x="5760720" y="3566160"/>
              <a:ext cx="1554480" cy="45720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2600" lang="en-US">
                  <a:solidFill>
                    <a:srgbClr val="FF99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245+</a:t>
              </a:r>
              <a:endParaRPr dirty="0" sz="2600" lang="en-US"/>
            </a:p>
          </p:txBody>
        </p:sp>
        <p:sp>
          <p:nvSpPr>
            <p:cNvPr id="1048677" name="Text 32"/>
            <p:cNvSpPr/>
            <p:nvPr/>
          </p:nvSpPr>
          <p:spPr>
            <a:xfrm>
              <a:off x="5760720" y="4023360"/>
              <a:ext cx="1554480" cy="41148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dirty="0" sz="800" lang="en-US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Services &amp; Counting</a:t>
              </a:r>
              <a:endParaRPr dirty="0" sz="800" lang="en-US"/>
            </a:p>
          </p:txBody>
        </p:sp>
        <p:sp>
          <p:nvSpPr>
            <p:cNvPr id="1048678" name="Shape 33"/>
            <p:cNvSpPr/>
            <p:nvPr/>
          </p:nvSpPr>
          <p:spPr>
            <a:xfrm>
              <a:off x="7452360" y="3429000"/>
              <a:ext cx="1554480" cy="1097280"/>
            </a:xfrm>
            <a:prstGeom prst="rect"/>
            <a:noFill/>
            <a:ln w="12700">
              <a:solidFill>
                <a:srgbClr val="FF990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679" name="Text 34"/>
            <p:cNvSpPr/>
            <p:nvPr/>
          </p:nvSpPr>
          <p:spPr>
            <a:xfrm>
              <a:off x="7452360" y="3566160"/>
              <a:ext cx="1554480" cy="45720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2600" lang="en-US">
                  <a:solidFill>
                    <a:srgbClr val="FF99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33</a:t>
              </a:r>
              <a:endParaRPr dirty="0" sz="2600" lang="en-US"/>
            </a:p>
          </p:txBody>
        </p:sp>
        <p:sp>
          <p:nvSpPr>
            <p:cNvPr id="1048680" name="Text 35"/>
            <p:cNvSpPr/>
            <p:nvPr/>
          </p:nvSpPr>
          <p:spPr>
            <a:xfrm>
              <a:off x="7452360" y="4023360"/>
              <a:ext cx="1554480" cy="41148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dirty="0" sz="800" lang="en-US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Geographic Regions</a:t>
              </a:r>
              <a:endParaRPr dirty="0" sz="800" lang="en-US"/>
            </a:p>
          </p:txBody>
        </p:sp>
      </p:grpSp>
      <p:sp>
        <p:nvSpPr>
          <p:cNvPr id="1048681" name="Shape 32"/>
          <p:cNvSpPr/>
          <p:nvPr/>
        </p:nvSpPr>
        <p:spPr>
          <a:xfrm>
            <a:off x="365760" y="4823460"/>
            <a:ext cx="8412480" cy="292608"/>
          </a:xfrm>
          <a:prstGeom prst="rect"/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SectionTag"/>
          <p:cNvSpPr/>
          <p:nvPr/>
        </p:nvSpPr>
        <p:spPr>
          <a:xfrm>
            <a:off x="365760" y="164592"/>
            <a:ext cx="1645920" cy="256032"/>
          </a:xfrm>
          <a:prstGeom prst="rect"/>
          <a:solidFill>
            <a:srgbClr val="FF6B35"/>
          </a:solidFill>
          <a:ln w="12700">
            <a:solidFill>
              <a:srgbClr val="FF6B35"/>
            </a:solidFill>
          </a:ln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00" lang="en-US">
                <a:solidFill>
                  <a:srgbClr val="FFFFFF"/>
                </a:solidFill>
              </a:rPr>
              <a:t>AWS SECTION</a:t>
            </a:r>
          </a:p>
        </p:txBody>
      </p:sp>
      <p:sp>
        <p:nvSpPr>
          <p:cNvPr id="1048686" name="Title"/>
          <p:cNvSpPr/>
          <p:nvPr/>
        </p:nvSpPr>
        <p:spPr>
          <a:xfrm>
            <a:off x="365760" y="457200"/>
            <a:ext cx="54864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latin typeface="Calibri"/>
              </a:rPr>
              <a:t>AWS Core Services</a:t>
            </a:r>
          </a:p>
        </p:txBody>
      </p:sp>
      <p:sp>
        <p:nvSpPr>
          <p:cNvPr id="1048687" name="Subtitle"/>
          <p:cNvSpPr/>
          <p:nvPr/>
        </p:nvSpPr>
        <p:spPr>
          <a:xfrm>
            <a:off x="365760" y="987552"/>
            <a:ext cx="500040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8899AA"/>
                </a:solidFill>
                <a:latin typeface="Calibri"/>
              </a:rPr>
              <a:t>Core building blocks powering millions of applications worldwide</a:t>
            </a:r>
          </a:p>
        </p:txBody>
      </p:sp>
      <p:grpSp>
        <p:nvGrpSpPr>
          <p:cNvPr id="36" name="Group 1"/>
          <p:cNvGrpSpPr/>
          <p:nvPr/>
        </p:nvGrpSpPr>
        <p:grpSpPr>
          <a:xfrm>
            <a:off x="640080" y="1832719"/>
            <a:ext cx="7863840" cy="2286000"/>
            <a:chOff x="365760" y="1280160"/>
            <a:chExt cx="7863840" cy="2286000"/>
          </a:xfrm>
        </p:grpSpPr>
        <p:sp>
          <p:nvSpPr>
            <p:cNvPr id="1048688" name="EC2bg"/>
            <p:cNvSpPr/>
            <p:nvPr/>
          </p:nvSpPr>
          <p:spPr>
            <a:xfrm>
              <a:off x="365760" y="1280160"/>
              <a:ext cx="2560320" cy="1097280"/>
            </a:xfrm>
            <a:prstGeom prst="rect"/>
            <a:noFill/>
            <a:ln w="19050">
              <a:solidFill>
                <a:srgbClr val="FF9900"/>
              </a:solidFill>
            </a:ln>
          </p:spPr>
          <p:txBody>
            <a:bodyPr/>
            <a:p>
              <a:endParaRPr lang="en-GB"/>
            </a:p>
          </p:txBody>
        </p:sp>
        <p:sp>
          <p:nvSpPr>
            <p:cNvPr id="1048689" name="EC2bar"/>
            <p:cNvSpPr/>
            <p:nvPr/>
          </p:nvSpPr>
          <p:spPr>
            <a:xfrm>
              <a:off x="365760" y="1280160"/>
              <a:ext cx="2560320" cy="91440"/>
            </a:xfrm>
            <a:prstGeom prst="rect"/>
            <a:solidFill>
              <a:srgbClr val="FF9900"/>
            </a:solidFill>
            <a:ln w="0">
              <a:noFill/>
            </a:ln>
          </p:spPr>
          <p:txBody>
            <a:bodyPr/>
            <a:p>
              <a:endParaRPr lang="en-GB"/>
            </a:p>
          </p:txBody>
        </p:sp>
        <p:pic>
          <p:nvPicPr>
            <p:cNvPr id="2097161" name="EC2icon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/>
            <a:stretch>
              <a:fillRect/>
            </a:stretch>
          </p:blipFill>
          <p:spPr>
            <a:xfrm>
              <a:off x="511680" y="1536192"/>
              <a:ext cx="365760" cy="365760"/>
            </a:xfrm>
            <a:prstGeom prst="rect"/>
          </p:spPr>
        </p:pic>
        <p:sp>
          <p:nvSpPr>
            <p:cNvPr id="1048690" name="EC2txt"/>
            <p:cNvSpPr/>
            <p:nvPr/>
          </p:nvSpPr>
          <p:spPr>
            <a:xfrm>
              <a:off x="877440" y="1371600"/>
              <a:ext cx="2000520" cy="1005840"/>
            </a:xfrm>
            <a:prstGeom prst="rect"/>
            <a:noFill/>
          </p:spPr>
          <p:txBody>
            <a:bodyPr anchor="ctr" bIns="91440" lIns="91440" rIns="91440" rtlCol="0" tIns="91440" wrap="square"/>
            <a:p>
              <a:pPr indent="0" marL="0">
                <a:buNone/>
              </a:pPr>
              <a:r>
                <a:rPr b="1" dirty="0" sz="1400" lang="en-US">
                  <a:solidFill>
                    <a:srgbClr val="FF9900"/>
                  </a:solidFill>
                  <a:latin typeface="Calibri"/>
                </a:rPr>
                <a:t>EC2</a:t>
              </a:r>
            </a:p>
            <a:p>
              <a:pPr indent="0" marL="0">
                <a:buNone/>
              </a:pPr>
              <a:r>
                <a:rPr b="1" dirty="0" sz="1000" lang="en-US">
                  <a:solidFill>
                    <a:srgbClr val="FFFFFF"/>
                  </a:solidFill>
                  <a:latin typeface="Calibri"/>
                </a:rPr>
                <a:t>Elastic Compute Cloud</a:t>
              </a:r>
            </a:p>
            <a:p>
              <a:pPr indent="0" marL="0">
                <a:buNone/>
              </a:pPr>
              <a:r>
                <a:rPr dirty="0" sz="900" lang="en-US">
                  <a:solidFill>
                    <a:srgbClr val="8899AA"/>
                  </a:solidFill>
                  <a:latin typeface="Calibri"/>
                </a:rPr>
                <a:t>Virtual servers in the cloud</a:t>
              </a:r>
            </a:p>
          </p:txBody>
        </p:sp>
        <p:sp>
          <p:nvSpPr>
            <p:cNvPr id="1048691" name="S3bg"/>
            <p:cNvSpPr/>
            <p:nvPr/>
          </p:nvSpPr>
          <p:spPr>
            <a:xfrm>
              <a:off x="3017520" y="1280160"/>
              <a:ext cx="2560320" cy="1097280"/>
            </a:xfrm>
            <a:prstGeom prst="rect"/>
            <a:noFill/>
            <a:ln w="19050">
              <a:solidFill>
                <a:srgbClr val="00BFA5"/>
              </a:solidFill>
            </a:ln>
          </p:spPr>
          <p:txBody>
            <a:bodyPr/>
            <a:p>
              <a:endParaRPr lang="en-GB"/>
            </a:p>
          </p:txBody>
        </p:sp>
        <p:sp>
          <p:nvSpPr>
            <p:cNvPr id="1048692" name="S3bar"/>
            <p:cNvSpPr/>
            <p:nvPr/>
          </p:nvSpPr>
          <p:spPr>
            <a:xfrm>
              <a:off x="3017520" y="1280160"/>
              <a:ext cx="2560320" cy="91440"/>
            </a:xfrm>
            <a:prstGeom prst="rect"/>
            <a:solidFill>
              <a:srgbClr val="00BFA5"/>
            </a:solidFill>
            <a:ln w="0">
              <a:noFill/>
            </a:ln>
          </p:spPr>
          <p:txBody>
            <a:bodyPr/>
            <a:p>
              <a:endParaRPr lang="en-GB"/>
            </a:p>
          </p:txBody>
        </p:sp>
        <p:pic>
          <p:nvPicPr>
            <p:cNvPr id="2097162" name="S3icon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3163440" y="1536192"/>
              <a:ext cx="365760" cy="365760"/>
            </a:xfrm>
            <a:prstGeom prst="rect"/>
          </p:spPr>
        </p:pic>
        <p:sp>
          <p:nvSpPr>
            <p:cNvPr id="1048693" name="S3txt"/>
            <p:cNvSpPr/>
            <p:nvPr/>
          </p:nvSpPr>
          <p:spPr>
            <a:xfrm>
              <a:off x="3529200" y="1371600"/>
              <a:ext cx="2000520" cy="1005840"/>
            </a:xfrm>
            <a:prstGeom prst="rect"/>
            <a:noFill/>
          </p:spPr>
          <p:txBody>
            <a:bodyPr anchor="ctr" bIns="91440" lIns="91440" rIns="91440" rtlCol="0" tIns="91440" wrap="square"/>
            <a:p>
              <a:pPr indent="0" marL="0">
                <a:buNone/>
              </a:pPr>
              <a:r>
                <a:rPr b="1" dirty="0" sz="1400" lang="en-US">
                  <a:solidFill>
                    <a:srgbClr val="00BFA5"/>
                  </a:solidFill>
                  <a:latin typeface="Calibri"/>
                </a:rPr>
                <a:t>S3</a:t>
              </a:r>
            </a:p>
            <a:p>
              <a:pPr indent="0" marL="0">
                <a:buNone/>
              </a:pPr>
              <a:r>
                <a:rPr b="1" dirty="0" sz="1000" lang="en-US">
                  <a:solidFill>
                    <a:srgbClr val="FFFFFF"/>
                  </a:solidFill>
                  <a:latin typeface="Calibri"/>
                </a:rPr>
                <a:t>Simple Storage Service</a:t>
              </a:r>
            </a:p>
            <a:p>
              <a:pPr indent="0" marL="0">
                <a:buNone/>
              </a:pPr>
              <a:r>
                <a:rPr dirty="0" sz="900" lang="en-US">
                  <a:solidFill>
                    <a:srgbClr val="8899AA"/>
                  </a:solidFill>
                  <a:latin typeface="Calibri"/>
                </a:rPr>
                <a:t>Scalable object storage</a:t>
              </a:r>
            </a:p>
          </p:txBody>
        </p:sp>
        <p:sp>
          <p:nvSpPr>
            <p:cNvPr id="1048694" name="Lambdabg"/>
            <p:cNvSpPr/>
            <p:nvPr/>
          </p:nvSpPr>
          <p:spPr>
            <a:xfrm>
              <a:off x="5669280" y="1280160"/>
              <a:ext cx="2560320" cy="1097280"/>
            </a:xfrm>
            <a:prstGeom prst="rect"/>
            <a:noFill/>
            <a:ln w="19050">
              <a:solidFill>
                <a:srgbClr val="1A73E8"/>
              </a:solidFill>
            </a:ln>
          </p:spPr>
          <p:txBody>
            <a:bodyPr/>
            <a:p>
              <a:endParaRPr lang="en-GB"/>
            </a:p>
          </p:txBody>
        </p:sp>
        <p:sp>
          <p:nvSpPr>
            <p:cNvPr id="1048695" name="Lambdabar"/>
            <p:cNvSpPr/>
            <p:nvPr/>
          </p:nvSpPr>
          <p:spPr>
            <a:xfrm>
              <a:off x="5669280" y="1280160"/>
              <a:ext cx="2560320" cy="91440"/>
            </a:xfrm>
            <a:prstGeom prst="rect"/>
            <a:solidFill>
              <a:srgbClr val="1A73E8"/>
            </a:solidFill>
            <a:ln w="0">
              <a:noFill/>
            </a:ln>
          </p:spPr>
          <p:txBody>
            <a:bodyPr/>
            <a:p>
              <a:endParaRPr lang="en-GB"/>
            </a:p>
          </p:txBody>
        </p:sp>
        <p:pic>
          <p:nvPicPr>
            <p:cNvPr id="2097163" name="Lambdaicon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3"/>
            <a:stretch>
              <a:fillRect/>
            </a:stretch>
          </p:blipFill>
          <p:spPr>
            <a:xfrm>
              <a:off x="5858520" y="1554480"/>
              <a:ext cx="365760" cy="365760"/>
            </a:xfrm>
            <a:prstGeom prst="rect"/>
          </p:spPr>
        </p:pic>
        <p:sp>
          <p:nvSpPr>
            <p:cNvPr id="1048696" name="Lambdatxt"/>
            <p:cNvSpPr/>
            <p:nvPr/>
          </p:nvSpPr>
          <p:spPr>
            <a:xfrm>
              <a:off x="6180960" y="1371600"/>
              <a:ext cx="2000520" cy="1005840"/>
            </a:xfrm>
            <a:prstGeom prst="rect"/>
            <a:noFill/>
          </p:spPr>
          <p:txBody>
            <a:bodyPr anchor="ctr" bIns="91440" lIns="91440" rIns="91440" rtlCol="0" tIns="91440" wrap="square"/>
            <a:p>
              <a:pPr indent="0" marL="0">
                <a:buNone/>
              </a:pPr>
              <a:r>
                <a:rPr b="1" dirty="0" sz="1400" lang="en-US">
                  <a:solidFill>
                    <a:srgbClr val="1A73E8"/>
                  </a:solidFill>
                  <a:latin typeface="Calibri"/>
                </a:rPr>
                <a:t>Lambda</a:t>
              </a:r>
            </a:p>
            <a:p>
              <a:pPr indent="0" marL="0">
                <a:buNone/>
              </a:pPr>
              <a:r>
                <a:rPr b="1" dirty="0" sz="1000" lang="en-US">
                  <a:solidFill>
                    <a:srgbClr val="FFFFFF"/>
                  </a:solidFill>
                  <a:latin typeface="Calibri"/>
                </a:rPr>
                <a:t>Serverless Functions</a:t>
              </a:r>
            </a:p>
            <a:p>
              <a:pPr indent="0" marL="0">
                <a:buNone/>
              </a:pPr>
              <a:r>
                <a:rPr dirty="0" sz="900" lang="en-US">
                  <a:solidFill>
                    <a:srgbClr val="8899AA"/>
                  </a:solidFill>
                  <a:latin typeface="Calibri"/>
                </a:rPr>
                <a:t>Run code without servers</a:t>
              </a:r>
            </a:p>
          </p:txBody>
        </p:sp>
        <p:sp>
          <p:nvSpPr>
            <p:cNvPr id="1048697" name="RDSbg"/>
            <p:cNvSpPr/>
            <p:nvPr/>
          </p:nvSpPr>
          <p:spPr>
            <a:xfrm>
              <a:off x="1646280" y="2468880"/>
              <a:ext cx="2560320" cy="1097280"/>
            </a:xfrm>
            <a:prstGeom prst="rect"/>
            <a:noFill/>
            <a:ln w="19050">
              <a:solidFill>
                <a:srgbClr val="7C3AED"/>
              </a:solidFill>
            </a:ln>
          </p:spPr>
          <p:txBody>
            <a:bodyPr/>
            <a:p>
              <a:endParaRPr lang="en-GB"/>
            </a:p>
          </p:txBody>
        </p:sp>
        <p:sp>
          <p:nvSpPr>
            <p:cNvPr id="1048698" name="RDSbar"/>
            <p:cNvSpPr/>
            <p:nvPr/>
          </p:nvSpPr>
          <p:spPr>
            <a:xfrm>
              <a:off x="1646280" y="2468880"/>
              <a:ext cx="2560320" cy="91440"/>
            </a:xfrm>
            <a:prstGeom prst="rect"/>
            <a:solidFill>
              <a:srgbClr val="7C3AED"/>
            </a:solidFill>
            <a:ln w="0">
              <a:noFill/>
            </a:ln>
          </p:spPr>
          <p:txBody>
            <a:bodyPr/>
            <a:p>
              <a:endParaRPr lang="en-GB"/>
            </a:p>
          </p:txBody>
        </p:sp>
        <p:pic>
          <p:nvPicPr>
            <p:cNvPr id="2097164" name="RDSicon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1828800" y="2680255"/>
              <a:ext cx="365760" cy="365760"/>
            </a:xfrm>
            <a:prstGeom prst="rect"/>
          </p:spPr>
        </p:pic>
        <p:sp>
          <p:nvSpPr>
            <p:cNvPr id="1048699" name="RDStxt"/>
            <p:cNvSpPr/>
            <p:nvPr/>
          </p:nvSpPr>
          <p:spPr>
            <a:xfrm>
              <a:off x="2158200" y="2560320"/>
              <a:ext cx="2000520" cy="1005840"/>
            </a:xfrm>
            <a:prstGeom prst="rect"/>
            <a:noFill/>
          </p:spPr>
          <p:txBody>
            <a:bodyPr anchor="ctr" bIns="91440" lIns="91440" rIns="91440" rtlCol="0" tIns="91440" wrap="square"/>
            <a:p>
              <a:pPr indent="0" marL="0">
                <a:buNone/>
              </a:pPr>
              <a:r>
                <a:rPr b="1" dirty="0" sz="1400" lang="en-US">
                  <a:solidFill>
                    <a:srgbClr val="7C3AED"/>
                  </a:solidFill>
                  <a:latin typeface="Calibri"/>
                </a:rPr>
                <a:t>RDS</a:t>
              </a:r>
            </a:p>
            <a:p>
              <a:pPr indent="0" marL="0">
                <a:buNone/>
              </a:pPr>
              <a:r>
                <a:rPr b="1" dirty="0" sz="1000" lang="en-US">
                  <a:solidFill>
                    <a:srgbClr val="FFFFFF"/>
                  </a:solidFill>
                  <a:latin typeface="Calibri"/>
                </a:rPr>
                <a:t>Relational Database</a:t>
              </a:r>
            </a:p>
            <a:p>
              <a:pPr indent="0" marL="0">
                <a:buNone/>
              </a:pPr>
              <a:r>
                <a:rPr dirty="0" sz="900" lang="en-US">
                  <a:solidFill>
                    <a:srgbClr val="8899AA"/>
                  </a:solidFill>
                  <a:latin typeface="Calibri"/>
                </a:rPr>
                <a:t>Relational database service</a:t>
              </a:r>
            </a:p>
          </p:txBody>
        </p:sp>
        <p:sp>
          <p:nvSpPr>
            <p:cNvPr id="1048700" name="VPCbg"/>
            <p:cNvSpPr/>
            <p:nvPr/>
          </p:nvSpPr>
          <p:spPr>
            <a:xfrm>
              <a:off x="4297560" y="2468880"/>
              <a:ext cx="2560320" cy="1097280"/>
            </a:xfrm>
            <a:prstGeom prst="rect"/>
            <a:noFill/>
            <a:ln w="19050">
              <a:solidFill>
                <a:srgbClr val="1E90FF"/>
              </a:solidFill>
            </a:ln>
          </p:spPr>
          <p:txBody>
            <a:bodyPr/>
            <a:p>
              <a:endParaRPr lang="en-GB"/>
            </a:p>
          </p:txBody>
        </p:sp>
        <p:sp>
          <p:nvSpPr>
            <p:cNvPr id="1048701" name="VPCbar"/>
            <p:cNvSpPr/>
            <p:nvPr/>
          </p:nvSpPr>
          <p:spPr>
            <a:xfrm>
              <a:off x="4297560" y="2468880"/>
              <a:ext cx="2560320" cy="91440"/>
            </a:xfrm>
            <a:prstGeom prst="rect"/>
            <a:solidFill>
              <a:srgbClr val="1E90FF"/>
            </a:solidFill>
            <a:ln w="0">
              <a:noFill/>
            </a:ln>
          </p:spPr>
          <p:txBody>
            <a:bodyPr/>
            <a:p>
              <a:endParaRPr lang="en-GB"/>
            </a:p>
          </p:txBody>
        </p:sp>
        <p:pic>
          <p:nvPicPr>
            <p:cNvPr id="2097165" name="VPCicon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4"/>
            <a:stretch>
              <a:fillRect/>
            </a:stretch>
          </p:blipFill>
          <p:spPr>
            <a:xfrm>
              <a:off x="4453021" y="2680255"/>
              <a:ext cx="365760" cy="365760"/>
            </a:xfrm>
            <a:prstGeom prst="rect"/>
          </p:spPr>
        </p:pic>
        <p:sp>
          <p:nvSpPr>
            <p:cNvPr id="1048702" name="VPCtxt"/>
            <p:cNvSpPr/>
            <p:nvPr/>
          </p:nvSpPr>
          <p:spPr>
            <a:xfrm>
              <a:off x="4809480" y="2560320"/>
              <a:ext cx="2000520" cy="1005840"/>
            </a:xfrm>
            <a:prstGeom prst="rect"/>
            <a:noFill/>
          </p:spPr>
          <p:txBody>
            <a:bodyPr anchor="ctr" bIns="91440" lIns="91440" rIns="91440" rtlCol="0" tIns="91440" wrap="square"/>
            <a:p>
              <a:pPr indent="0" marL="0">
                <a:buNone/>
              </a:pPr>
              <a:r>
                <a:rPr b="1" dirty="0" sz="1400" lang="en-US">
                  <a:solidFill>
                    <a:srgbClr val="1E90FF"/>
                  </a:solidFill>
                  <a:latin typeface="Calibri"/>
                </a:rPr>
                <a:t>VPC</a:t>
              </a:r>
            </a:p>
            <a:p>
              <a:pPr indent="0" marL="0">
                <a:buNone/>
              </a:pPr>
              <a:r>
                <a:rPr b="1" dirty="0" sz="1000" lang="en-US">
                  <a:solidFill>
                    <a:srgbClr val="FFFFFF"/>
                  </a:solidFill>
                  <a:latin typeface="Calibri"/>
                </a:rPr>
                <a:t>Virtual Private Cloud</a:t>
              </a:r>
            </a:p>
            <a:p>
              <a:pPr indent="0" marL="0">
                <a:buNone/>
              </a:pPr>
              <a:r>
                <a:rPr dirty="0" sz="900" lang="en-US">
                  <a:solidFill>
                    <a:srgbClr val="8899AA"/>
                  </a:solidFill>
                  <a:latin typeface="Calibri"/>
                </a:rPr>
                <a:t>Isolated network environment</a:t>
              </a:r>
            </a:p>
          </p:txBody>
        </p:sp>
      </p:grpSp>
      <p:sp>
        <p:nvSpPr>
          <p:cNvPr id="1048703" name="Shape 32"/>
          <p:cNvSpPr/>
          <p:nvPr/>
        </p:nvSpPr>
        <p:spPr>
          <a:xfrm>
            <a:off x="365760" y="4754880"/>
            <a:ext cx="8412480" cy="292608"/>
          </a:xfrm>
          <a:prstGeom prst="rect"/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Shape 0"/>
          <p:cNvSpPr/>
          <p:nvPr/>
        </p:nvSpPr>
        <p:spPr>
          <a:xfrm>
            <a:off x="365760" y="164592"/>
            <a:ext cx="1645920" cy="256032"/>
          </a:xfrm>
          <a:prstGeom prst="rect"/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708" name="Text 1"/>
          <p:cNvSpPr/>
          <p:nvPr/>
        </p:nvSpPr>
        <p:spPr>
          <a:xfrm>
            <a:off x="365760" y="164592"/>
            <a:ext cx="164592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00" lang="en-US">
                <a:solidFill>
                  <a:srgbClr val="FFFFFF"/>
                </a:solidFill>
              </a:rPr>
              <a:t>AWS SECTION</a:t>
            </a:r>
            <a:endParaRPr dirty="0" sz="700" lang="en-US"/>
          </a:p>
        </p:txBody>
      </p:sp>
      <p:sp>
        <p:nvSpPr>
          <p:cNvPr id="1048709" name="Text 2"/>
          <p:cNvSpPr/>
          <p:nvPr/>
        </p:nvSpPr>
        <p:spPr>
          <a:xfrm>
            <a:off x="365760" y="502920"/>
            <a:ext cx="84124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Advantages &amp; Disadvantages</a:t>
            </a:r>
            <a:endParaRPr dirty="0" sz="2800" lang="en-US"/>
          </a:p>
        </p:txBody>
      </p:sp>
      <p:sp>
        <p:nvSpPr>
          <p:cNvPr id="1048710" name="Text 3"/>
          <p:cNvSpPr/>
          <p:nvPr/>
        </p:nvSpPr>
        <p:spPr>
          <a:xfrm>
            <a:off x="365760" y="1051560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endParaRPr dirty="0" sz="800" lang="en-US"/>
          </a:p>
        </p:txBody>
      </p:sp>
      <p:grpSp>
        <p:nvGrpSpPr>
          <p:cNvPr id="40" name="Group 3"/>
          <p:cNvGrpSpPr/>
          <p:nvPr/>
        </p:nvGrpSpPr>
        <p:grpSpPr>
          <a:xfrm>
            <a:off x="457200" y="1522476"/>
            <a:ext cx="3931920" cy="2779776"/>
            <a:chOff x="365760" y="1371600"/>
            <a:chExt cx="3931920" cy="2779776"/>
          </a:xfrm>
        </p:grpSpPr>
        <p:sp>
          <p:nvSpPr>
            <p:cNvPr id="1048711" name="Shape 4"/>
            <p:cNvSpPr/>
            <p:nvPr/>
          </p:nvSpPr>
          <p:spPr>
            <a:xfrm>
              <a:off x="365760" y="1371600"/>
              <a:ext cx="3931920" cy="365760"/>
            </a:xfrm>
            <a:prstGeom prst="rect"/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712" name="Text 5"/>
            <p:cNvSpPr/>
            <p:nvPr/>
          </p:nvSpPr>
          <p:spPr>
            <a:xfrm>
              <a:off x="365760" y="1371600"/>
              <a:ext cx="3931920" cy="36576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1300" lang="en-US">
                  <a:solidFill>
                    <a:srgbClr val="FFFFFF"/>
                  </a:solidFill>
                </a:rPr>
                <a:t>✓  ADVANTAGES</a:t>
              </a:r>
              <a:endParaRPr dirty="0" sz="1300" lang="en-US"/>
            </a:p>
          </p:txBody>
        </p:sp>
        <p:sp>
          <p:nvSpPr>
            <p:cNvPr id="1048713" name="Shape 6"/>
            <p:cNvSpPr/>
            <p:nvPr/>
          </p:nvSpPr>
          <p:spPr>
            <a:xfrm>
              <a:off x="365760" y="1828800"/>
              <a:ext cx="3931920" cy="420624"/>
            </a:xfrm>
            <a:prstGeom prst="rect"/>
            <a:solidFill>
              <a:srgbClr val="F0FDF4"/>
            </a:solidFill>
            <a:ln w="12700">
              <a:solidFill>
                <a:srgbClr val="BBF7D0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pic>
          <p:nvPicPr>
            <p:cNvPr id="2097166" name="Image 0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/>
            <a:stretch>
              <a:fillRect/>
            </a:stretch>
          </p:blipFill>
          <p:spPr>
            <a:xfrm>
              <a:off x="502920" y="1920240"/>
              <a:ext cx="256032" cy="256032"/>
            </a:xfrm>
            <a:prstGeom prst="rect"/>
          </p:spPr>
        </p:pic>
        <p:sp>
          <p:nvSpPr>
            <p:cNvPr id="1048714" name="Text 7"/>
            <p:cNvSpPr/>
            <p:nvPr/>
          </p:nvSpPr>
          <p:spPr>
            <a:xfrm>
              <a:off x="868680" y="1901952"/>
              <a:ext cx="333756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50" lang="en-US">
                  <a:solidFill>
                    <a:srgbClr val="16653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Massive global infrastructure (33 regions)</a:t>
              </a:r>
              <a:endParaRPr dirty="0" sz="1050" lang="en-US"/>
            </a:p>
          </p:txBody>
        </p:sp>
        <p:sp>
          <p:nvSpPr>
            <p:cNvPr id="1048715" name="Shape 8"/>
            <p:cNvSpPr/>
            <p:nvPr/>
          </p:nvSpPr>
          <p:spPr>
            <a:xfrm>
              <a:off x="365760" y="2304288"/>
              <a:ext cx="3931920" cy="420624"/>
            </a:xfrm>
            <a:prstGeom prst="rect"/>
            <a:solidFill>
              <a:srgbClr val="DCFCE7"/>
            </a:solidFill>
            <a:ln w="12700">
              <a:solidFill>
                <a:srgbClr val="BBF7D0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pic>
          <p:nvPicPr>
            <p:cNvPr id="2097167" name="Image 1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/>
            <a:stretch>
              <a:fillRect/>
            </a:stretch>
          </p:blipFill>
          <p:spPr>
            <a:xfrm>
              <a:off x="502920" y="2395728"/>
              <a:ext cx="256032" cy="256032"/>
            </a:xfrm>
            <a:prstGeom prst="rect"/>
          </p:spPr>
        </p:pic>
        <p:sp>
          <p:nvSpPr>
            <p:cNvPr id="1048716" name="Text 9"/>
            <p:cNvSpPr/>
            <p:nvPr/>
          </p:nvSpPr>
          <p:spPr>
            <a:xfrm>
              <a:off x="868680" y="2377440"/>
              <a:ext cx="333756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50" lang="en-US">
                  <a:solidFill>
                    <a:srgbClr val="16653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Broadest service portfolio (245+ services)</a:t>
              </a:r>
              <a:endParaRPr dirty="0" sz="1050" lang="en-US"/>
            </a:p>
          </p:txBody>
        </p:sp>
        <p:sp>
          <p:nvSpPr>
            <p:cNvPr id="1048717" name="Shape 10"/>
            <p:cNvSpPr/>
            <p:nvPr/>
          </p:nvSpPr>
          <p:spPr>
            <a:xfrm>
              <a:off x="365760" y="2779776"/>
              <a:ext cx="3931920" cy="420624"/>
            </a:xfrm>
            <a:prstGeom prst="rect"/>
            <a:solidFill>
              <a:srgbClr val="F0FDF4"/>
            </a:solidFill>
            <a:ln w="12700">
              <a:solidFill>
                <a:srgbClr val="BBF7D0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pic>
          <p:nvPicPr>
            <p:cNvPr id="2097168" name="Image 2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/>
            <a:stretch>
              <a:fillRect/>
            </a:stretch>
          </p:blipFill>
          <p:spPr>
            <a:xfrm>
              <a:off x="502920" y="2871216"/>
              <a:ext cx="256032" cy="256032"/>
            </a:xfrm>
            <a:prstGeom prst="rect"/>
          </p:spPr>
        </p:pic>
        <p:sp>
          <p:nvSpPr>
            <p:cNvPr id="1048718" name="Text 11"/>
            <p:cNvSpPr/>
            <p:nvPr/>
          </p:nvSpPr>
          <p:spPr>
            <a:xfrm>
              <a:off x="868680" y="2852928"/>
              <a:ext cx="333756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50" lang="en-US">
                  <a:solidFill>
                    <a:srgbClr val="16653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Pay-as-you-go pricing model</a:t>
              </a:r>
              <a:endParaRPr dirty="0" sz="1050" lang="en-US"/>
            </a:p>
          </p:txBody>
        </p:sp>
        <p:sp>
          <p:nvSpPr>
            <p:cNvPr id="1048719" name="Shape 12"/>
            <p:cNvSpPr/>
            <p:nvPr/>
          </p:nvSpPr>
          <p:spPr>
            <a:xfrm>
              <a:off x="365760" y="3255264"/>
              <a:ext cx="3931920" cy="420624"/>
            </a:xfrm>
            <a:prstGeom prst="rect"/>
            <a:solidFill>
              <a:srgbClr val="DCFCE7"/>
            </a:solidFill>
            <a:ln w="12700">
              <a:solidFill>
                <a:srgbClr val="BBF7D0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pic>
          <p:nvPicPr>
            <p:cNvPr id="2097169" name="Image 3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/>
            <a:stretch>
              <a:fillRect/>
            </a:stretch>
          </p:blipFill>
          <p:spPr>
            <a:xfrm>
              <a:off x="502920" y="3346704"/>
              <a:ext cx="256032" cy="256032"/>
            </a:xfrm>
            <a:prstGeom prst="rect"/>
          </p:spPr>
        </p:pic>
        <p:sp>
          <p:nvSpPr>
            <p:cNvPr id="1048720" name="Text 13"/>
            <p:cNvSpPr/>
            <p:nvPr/>
          </p:nvSpPr>
          <p:spPr>
            <a:xfrm>
              <a:off x="868680" y="3328416"/>
              <a:ext cx="333756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50" lang="en-US">
                  <a:solidFill>
                    <a:srgbClr val="166534"/>
                  </a:solidFill>
                  <a:latin typeface="Calibri" pitchFamily="34" charset="0"/>
                  <a:cs typeface="Calibri" pitchFamily="34" charset="-120"/>
                </a:rPr>
                <a:t>High Availability</a:t>
              </a:r>
              <a:endParaRPr dirty="0" sz="1050" lang="en-US"/>
            </a:p>
          </p:txBody>
        </p:sp>
        <p:sp>
          <p:nvSpPr>
            <p:cNvPr id="1048721" name="Shape 14"/>
            <p:cNvSpPr/>
            <p:nvPr/>
          </p:nvSpPr>
          <p:spPr>
            <a:xfrm>
              <a:off x="365760" y="3730752"/>
              <a:ext cx="3931920" cy="420624"/>
            </a:xfrm>
            <a:prstGeom prst="rect"/>
            <a:solidFill>
              <a:srgbClr val="F0FDF4"/>
            </a:solidFill>
            <a:ln w="12700">
              <a:solidFill>
                <a:srgbClr val="BBF7D0"/>
              </a:solidFill>
              <a:prstDash val="solid"/>
            </a:ln>
          </p:spPr>
          <p:txBody>
            <a:bodyPr/>
            <a:p>
              <a:endParaRPr dirty="0" lang="en-GB"/>
            </a:p>
          </p:txBody>
        </p:sp>
        <p:pic>
          <p:nvPicPr>
            <p:cNvPr id="2097170" name="Image 4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/>
            <a:stretch>
              <a:fillRect/>
            </a:stretch>
          </p:blipFill>
          <p:spPr>
            <a:xfrm>
              <a:off x="502920" y="3822192"/>
              <a:ext cx="256032" cy="256032"/>
            </a:xfrm>
            <a:prstGeom prst="rect"/>
          </p:spPr>
        </p:pic>
        <p:sp>
          <p:nvSpPr>
            <p:cNvPr id="1048722" name="Text 15"/>
            <p:cNvSpPr/>
            <p:nvPr/>
          </p:nvSpPr>
          <p:spPr>
            <a:xfrm>
              <a:off x="868680" y="3803904"/>
              <a:ext cx="333756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50" lang="en-US">
                  <a:solidFill>
                    <a:srgbClr val="16653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Auto-scaling</a:t>
              </a:r>
              <a:endParaRPr dirty="0" sz="1050" lang="en-US"/>
            </a:p>
          </p:txBody>
        </p:sp>
      </p:grpSp>
      <p:grpSp>
        <p:nvGrpSpPr>
          <p:cNvPr id="41" name="Group 2"/>
          <p:cNvGrpSpPr/>
          <p:nvPr/>
        </p:nvGrpSpPr>
        <p:grpSpPr>
          <a:xfrm>
            <a:off x="4846320" y="1517904"/>
            <a:ext cx="3931920" cy="1828800"/>
            <a:chOff x="4846320" y="1371600"/>
            <a:chExt cx="3931920" cy="1828800"/>
          </a:xfrm>
        </p:grpSpPr>
        <p:sp>
          <p:nvSpPr>
            <p:cNvPr id="1048723" name="Shape 18"/>
            <p:cNvSpPr/>
            <p:nvPr/>
          </p:nvSpPr>
          <p:spPr>
            <a:xfrm>
              <a:off x="4846320" y="1371600"/>
              <a:ext cx="3931920" cy="365760"/>
            </a:xfrm>
            <a:prstGeom prst="rect"/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p>
              <a:endParaRPr dirty="0" lang="en-GB"/>
            </a:p>
          </p:txBody>
        </p:sp>
        <p:sp>
          <p:nvSpPr>
            <p:cNvPr id="1048724" name="Text 19"/>
            <p:cNvSpPr/>
            <p:nvPr/>
          </p:nvSpPr>
          <p:spPr>
            <a:xfrm>
              <a:off x="4846320" y="1371600"/>
              <a:ext cx="3931920" cy="36576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1300" lang="en-US">
                  <a:solidFill>
                    <a:srgbClr val="FFFFFF"/>
                  </a:solidFill>
                </a:rPr>
                <a:t>✗  DISADVANTAGES</a:t>
              </a:r>
              <a:endParaRPr dirty="0" sz="1300" lang="en-US"/>
            </a:p>
          </p:txBody>
        </p:sp>
        <p:sp>
          <p:nvSpPr>
            <p:cNvPr id="1048725" name="Shape 20"/>
            <p:cNvSpPr/>
            <p:nvPr/>
          </p:nvSpPr>
          <p:spPr>
            <a:xfrm>
              <a:off x="4846320" y="1828800"/>
              <a:ext cx="3931920" cy="420624"/>
            </a:xfrm>
            <a:prstGeom prst="rect"/>
            <a:solidFill>
              <a:srgbClr val="FFF1F2"/>
            </a:solidFill>
            <a:ln w="12700">
              <a:solidFill>
                <a:srgbClr val="FECDD3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pic>
          <p:nvPicPr>
            <p:cNvPr id="2097171" name="Image 6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4983480" y="1920240"/>
              <a:ext cx="256032" cy="256032"/>
            </a:xfrm>
            <a:prstGeom prst="rect"/>
          </p:spPr>
        </p:pic>
        <p:sp>
          <p:nvSpPr>
            <p:cNvPr id="1048726" name="Text 21"/>
            <p:cNvSpPr/>
            <p:nvPr/>
          </p:nvSpPr>
          <p:spPr>
            <a:xfrm>
              <a:off x="5349240" y="1901952"/>
              <a:ext cx="333756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50" lang="en-US">
                  <a:solidFill>
                    <a:srgbClr val="99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Complex pricing </a:t>
              </a:r>
              <a:endParaRPr dirty="0" sz="1050" lang="en-US"/>
            </a:p>
          </p:txBody>
        </p:sp>
        <p:sp>
          <p:nvSpPr>
            <p:cNvPr id="1048727" name="Shape 22"/>
            <p:cNvSpPr/>
            <p:nvPr/>
          </p:nvSpPr>
          <p:spPr>
            <a:xfrm>
              <a:off x="4846320" y="2304288"/>
              <a:ext cx="3931920" cy="420624"/>
            </a:xfrm>
            <a:prstGeom prst="rect"/>
            <a:solidFill>
              <a:srgbClr val="FFE4E6"/>
            </a:solidFill>
            <a:ln w="12700">
              <a:solidFill>
                <a:srgbClr val="FECDD3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pic>
          <p:nvPicPr>
            <p:cNvPr id="2097172" name="Image 7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4983480" y="2395728"/>
              <a:ext cx="256032" cy="256032"/>
            </a:xfrm>
            <a:prstGeom prst="rect"/>
          </p:spPr>
        </p:pic>
        <p:sp>
          <p:nvSpPr>
            <p:cNvPr id="1048728" name="Text 23"/>
            <p:cNvSpPr/>
            <p:nvPr/>
          </p:nvSpPr>
          <p:spPr>
            <a:xfrm>
              <a:off x="5349240" y="2377440"/>
              <a:ext cx="3337560" cy="274320"/>
            </a:xfrm>
            <a:prstGeom prst="rect"/>
            <a:noFill/>
          </p:spPr>
          <p:txBody>
            <a:bodyPr anchor="ctr" bIns="0" lIns="0" rIns="0" rtlCol="0" tIns="0" wrap="square"/>
            <a:p>
              <a:r>
                <a:rPr dirty="0" sz="1050" lang="en-US">
                  <a:solidFill>
                    <a:srgbClr val="99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Steep learning curve for beginners</a:t>
              </a:r>
              <a:endParaRPr dirty="0" sz="1050" lang="en-US"/>
            </a:p>
          </p:txBody>
        </p:sp>
        <p:sp>
          <p:nvSpPr>
            <p:cNvPr id="1048729" name="Shape 24"/>
            <p:cNvSpPr/>
            <p:nvPr/>
          </p:nvSpPr>
          <p:spPr>
            <a:xfrm>
              <a:off x="4846320" y="2779776"/>
              <a:ext cx="3931920" cy="420624"/>
            </a:xfrm>
            <a:prstGeom prst="rect"/>
            <a:solidFill>
              <a:srgbClr val="FFF1F2"/>
            </a:solidFill>
            <a:ln w="12700">
              <a:solidFill>
                <a:srgbClr val="FECDD3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pic>
          <p:nvPicPr>
            <p:cNvPr id="2097173" name="Image 8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4983480" y="2871216"/>
              <a:ext cx="256032" cy="256032"/>
            </a:xfrm>
            <a:prstGeom prst="rect"/>
          </p:spPr>
        </p:pic>
        <p:sp>
          <p:nvSpPr>
            <p:cNvPr id="1048730" name="Text 25"/>
            <p:cNvSpPr/>
            <p:nvPr/>
          </p:nvSpPr>
          <p:spPr>
            <a:xfrm>
              <a:off x="5349240" y="2852928"/>
              <a:ext cx="333756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50" lang="en-US">
                  <a:solidFill>
                    <a:srgbClr val="99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 overruns</a:t>
              </a:r>
              <a:endParaRPr dirty="0" sz="1050" lang="en-US"/>
            </a:p>
          </p:txBody>
        </p:sp>
      </p:grpSp>
      <p:grpSp>
        <p:nvGrpSpPr>
          <p:cNvPr id="42" name="Group 1"/>
          <p:cNvGrpSpPr/>
          <p:nvPr/>
        </p:nvGrpSpPr>
        <p:grpSpPr>
          <a:xfrm>
            <a:off x="4846320" y="3401568"/>
            <a:ext cx="3931920" cy="896112"/>
            <a:chOff x="4846320" y="3730752"/>
            <a:chExt cx="3931920" cy="896112"/>
          </a:xfrm>
        </p:grpSpPr>
        <p:sp>
          <p:nvSpPr>
            <p:cNvPr id="1048731" name="Shape 28"/>
            <p:cNvSpPr/>
            <p:nvPr/>
          </p:nvSpPr>
          <p:spPr>
            <a:xfrm>
              <a:off x="4846320" y="3730752"/>
              <a:ext cx="3931920" cy="420624"/>
            </a:xfrm>
            <a:prstGeom prst="rect"/>
            <a:solidFill>
              <a:srgbClr val="FFF1F2"/>
            </a:solidFill>
            <a:ln w="12700">
              <a:solidFill>
                <a:srgbClr val="FECDD3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pic>
          <p:nvPicPr>
            <p:cNvPr id="2097174" name="Image 10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4983480" y="3822192"/>
              <a:ext cx="256032" cy="256032"/>
            </a:xfrm>
            <a:prstGeom prst="rect"/>
          </p:spPr>
        </p:pic>
        <p:sp>
          <p:nvSpPr>
            <p:cNvPr id="1048732" name="Text 29"/>
            <p:cNvSpPr/>
            <p:nvPr/>
          </p:nvSpPr>
          <p:spPr>
            <a:xfrm>
              <a:off x="5349240" y="3803904"/>
              <a:ext cx="333756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50" lang="en-US">
                  <a:solidFill>
                    <a:srgbClr val="99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Limited customization</a:t>
              </a:r>
              <a:endParaRPr dirty="0" sz="1050" lang="en-US"/>
            </a:p>
          </p:txBody>
        </p:sp>
        <p:sp>
          <p:nvSpPr>
            <p:cNvPr id="1048733" name="Shape 30"/>
            <p:cNvSpPr/>
            <p:nvPr/>
          </p:nvSpPr>
          <p:spPr>
            <a:xfrm>
              <a:off x="4846320" y="4206240"/>
              <a:ext cx="3931920" cy="420624"/>
            </a:xfrm>
            <a:prstGeom prst="rect"/>
            <a:solidFill>
              <a:srgbClr val="FFE4E6"/>
            </a:solidFill>
            <a:ln w="12700">
              <a:solidFill>
                <a:srgbClr val="FECDD3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pic>
          <p:nvPicPr>
            <p:cNvPr id="2097175" name="Image 11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4983480" y="4297680"/>
              <a:ext cx="256032" cy="256032"/>
            </a:xfrm>
            <a:prstGeom prst="rect"/>
          </p:spPr>
        </p:pic>
        <p:sp>
          <p:nvSpPr>
            <p:cNvPr id="1048734" name="Text 31"/>
            <p:cNvSpPr/>
            <p:nvPr/>
          </p:nvSpPr>
          <p:spPr>
            <a:xfrm>
              <a:off x="5349240" y="4279392"/>
              <a:ext cx="333756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050" lang="en-US">
                  <a:solidFill>
                    <a:srgbClr val="991B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Internet dependency for all operations</a:t>
              </a:r>
              <a:endParaRPr dirty="0" sz="1050" lang="en-US"/>
            </a:p>
          </p:txBody>
        </p:sp>
      </p:grpSp>
      <p:sp>
        <p:nvSpPr>
          <p:cNvPr id="1048735" name="Shape 32"/>
          <p:cNvSpPr/>
          <p:nvPr/>
        </p:nvSpPr>
        <p:spPr>
          <a:xfrm>
            <a:off x="365760" y="4736592"/>
            <a:ext cx="8412480" cy="292608"/>
          </a:xfrm>
          <a:prstGeom prst="rect"/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736" name="Text 33"/>
          <p:cNvSpPr/>
          <p:nvPr/>
        </p:nvSpPr>
        <p:spPr>
          <a:xfrm>
            <a:off x="365760" y="4736592"/>
            <a:ext cx="841248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9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Shape 0"/>
          <p:cNvSpPr/>
          <p:nvPr/>
        </p:nvSpPr>
        <p:spPr>
          <a:xfrm>
            <a:off x="365760" y="164592"/>
            <a:ext cx="1645920" cy="256032"/>
          </a:xfrm>
          <a:prstGeom prst="rect"/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741" name="Text 1"/>
          <p:cNvSpPr/>
          <p:nvPr/>
        </p:nvSpPr>
        <p:spPr>
          <a:xfrm>
            <a:off x="365760" y="164592"/>
            <a:ext cx="164592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00" lang="en-US">
                <a:solidFill>
                  <a:srgbClr val="FFFFFF"/>
                </a:solidFill>
              </a:rPr>
              <a:t>USE CASES</a:t>
            </a:r>
            <a:endParaRPr dirty="0" sz="700" lang="en-US"/>
          </a:p>
        </p:txBody>
      </p:sp>
      <p:sp>
        <p:nvSpPr>
          <p:cNvPr id="1048742" name="Text 2"/>
          <p:cNvSpPr/>
          <p:nvPr/>
        </p:nvSpPr>
        <p:spPr>
          <a:xfrm>
            <a:off x="365760" y="487493"/>
            <a:ext cx="84124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dirty="0" sz="3000" lang="en-US"/>
          </a:p>
        </p:txBody>
      </p:sp>
      <p:grpSp>
        <p:nvGrpSpPr>
          <p:cNvPr id="46" name="Group 43"/>
          <p:cNvGrpSpPr/>
          <p:nvPr/>
        </p:nvGrpSpPr>
        <p:grpSpPr>
          <a:xfrm>
            <a:off x="2860144" y="1209870"/>
            <a:ext cx="4124131" cy="3108960"/>
            <a:chOff x="365760" y="1371600"/>
            <a:chExt cx="4124131" cy="3108960"/>
          </a:xfrm>
        </p:grpSpPr>
        <p:sp>
          <p:nvSpPr>
            <p:cNvPr id="1048743" name="Text 3"/>
            <p:cNvSpPr/>
            <p:nvPr/>
          </p:nvSpPr>
          <p:spPr>
            <a:xfrm>
              <a:off x="2661091" y="3166312"/>
              <a:ext cx="1828800" cy="201168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endParaRPr dirty="0" sz="800" lang="en-US"/>
            </a:p>
          </p:txBody>
        </p:sp>
        <p:sp>
          <p:nvSpPr>
            <p:cNvPr id="1048744" name="Shape 4"/>
            <p:cNvSpPr/>
            <p:nvPr/>
          </p:nvSpPr>
          <p:spPr>
            <a:xfrm>
              <a:off x="365760" y="1371600"/>
              <a:ext cx="3931920" cy="347472"/>
            </a:xfrm>
            <a:prstGeom prst="rect"/>
            <a:solidFill>
              <a:srgbClr val="FF990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745" name="Text 5"/>
            <p:cNvSpPr/>
            <p:nvPr/>
          </p:nvSpPr>
          <p:spPr>
            <a:xfrm>
              <a:off x="365760" y="1371600"/>
              <a:ext cx="3931920" cy="347472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1400" lang="en-US">
                  <a:solidFill>
                    <a:srgbClr val="0B1D3A"/>
                  </a:solidFill>
                </a:rPr>
                <a:t>Companies on AWS</a:t>
              </a:r>
              <a:endParaRPr dirty="0" sz="1400" lang="en-US"/>
            </a:p>
          </p:txBody>
        </p:sp>
        <p:sp>
          <p:nvSpPr>
            <p:cNvPr id="1048746" name="Shape 6"/>
            <p:cNvSpPr/>
            <p:nvPr/>
          </p:nvSpPr>
          <p:spPr>
            <a:xfrm>
              <a:off x="365760" y="1828800"/>
              <a:ext cx="3931920" cy="594360"/>
            </a:xfrm>
            <a:prstGeom prst="rect"/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747" name="Shape 7"/>
            <p:cNvSpPr/>
            <p:nvPr/>
          </p:nvSpPr>
          <p:spPr>
            <a:xfrm>
              <a:off x="365760" y="1828800"/>
              <a:ext cx="201168" cy="594360"/>
            </a:xfrm>
            <a:prstGeom prst="rect"/>
            <a:solidFill>
              <a:srgbClr val="E50914"/>
            </a:solidFill>
            <a:ln w="12700">
              <a:solidFill>
                <a:srgbClr val="E50914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748" name="Text 8"/>
            <p:cNvSpPr/>
            <p:nvPr/>
          </p:nvSpPr>
          <p:spPr>
            <a:xfrm>
              <a:off x="658368" y="1874520"/>
              <a:ext cx="3547872" cy="256032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200" lang="en-US">
                  <a:solidFill>
                    <a:srgbClr val="0B1D3A"/>
                  </a:solidFill>
                </a:rPr>
                <a:t>Netflix</a:t>
              </a:r>
              <a:endParaRPr dirty="0" sz="1200" lang="en-US"/>
            </a:p>
          </p:txBody>
        </p:sp>
        <p:sp>
          <p:nvSpPr>
            <p:cNvPr id="1048749" name="Text 9"/>
            <p:cNvSpPr/>
            <p:nvPr/>
          </p:nvSpPr>
          <p:spPr>
            <a:xfrm>
              <a:off x="658368" y="2130552"/>
              <a:ext cx="3547872" cy="22860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50" lang="en-US">
                  <a:solidFill>
                    <a:srgbClr val="64748B"/>
                  </a:solidFill>
                </a:rPr>
                <a:t>Video streaming at 200M+ users</a:t>
              </a:r>
              <a:endParaRPr dirty="0" sz="950" lang="en-US"/>
            </a:p>
          </p:txBody>
        </p:sp>
        <p:sp>
          <p:nvSpPr>
            <p:cNvPr id="1048750" name="Shape 10"/>
            <p:cNvSpPr/>
            <p:nvPr/>
          </p:nvSpPr>
          <p:spPr>
            <a:xfrm>
              <a:off x="365760" y="2514600"/>
              <a:ext cx="3931920" cy="594360"/>
            </a:xfrm>
            <a:prstGeom prst="rect"/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751" name="Shape 11"/>
            <p:cNvSpPr/>
            <p:nvPr/>
          </p:nvSpPr>
          <p:spPr>
            <a:xfrm>
              <a:off x="365760" y="2514600"/>
              <a:ext cx="201168" cy="594360"/>
            </a:xfrm>
            <a:prstGeom prst="rect"/>
            <a:solidFill>
              <a:srgbClr val="FF5A5F"/>
            </a:solidFill>
            <a:ln w="12700">
              <a:solidFill>
                <a:srgbClr val="FF5A5F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752" name="Text 12"/>
            <p:cNvSpPr/>
            <p:nvPr/>
          </p:nvSpPr>
          <p:spPr>
            <a:xfrm>
              <a:off x="658368" y="2560320"/>
              <a:ext cx="3547872" cy="256032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200" lang="en-US">
                  <a:solidFill>
                    <a:srgbClr val="0B1D3A"/>
                  </a:solidFill>
                </a:rPr>
                <a:t>Airbnb</a:t>
              </a:r>
              <a:endParaRPr dirty="0" sz="1200" lang="en-US"/>
            </a:p>
          </p:txBody>
        </p:sp>
        <p:sp>
          <p:nvSpPr>
            <p:cNvPr id="1048753" name="Text 13"/>
            <p:cNvSpPr/>
            <p:nvPr/>
          </p:nvSpPr>
          <p:spPr>
            <a:xfrm>
              <a:off x="658368" y="2816352"/>
              <a:ext cx="3547872" cy="22860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50" lang="en-US">
                  <a:solidFill>
                    <a:srgbClr val="64748B"/>
                  </a:solidFill>
                </a:rPr>
                <a:t>Booking platform &amp; data analytics</a:t>
              </a:r>
              <a:endParaRPr dirty="0" sz="950" lang="en-US"/>
            </a:p>
          </p:txBody>
        </p:sp>
        <p:sp>
          <p:nvSpPr>
            <p:cNvPr id="1048754" name="Shape 14"/>
            <p:cNvSpPr/>
            <p:nvPr/>
          </p:nvSpPr>
          <p:spPr>
            <a:xfrm>
              <a:off x="365760" y="3200400"/>
              <a:ext cx="3931920" cy="594360"/>
            </a:xfrm>
            <a:prstGeom prst="rect"/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755" name="Shape 15"/>
            <p:cNvSpPr/>
            <p:nvPr/>
          </p:nvSpPr>
          <p:spPr>
            <a:xfrm>
              <a:off x="365760" y="3200400"/>
              <a:ext cx="201168" cy="594360"/>
            </a:xfrm>
            <a:prstGeom prst="rect"/>
            <a:solidFill>
              <a:srgbClr val="0B3D91"/>
            </a:solidFill>
            <a:ln w="12700">
              <a:solidFill>
                <a:srgbClr val="0B3D91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756" name="Text 16"/>
            <p:cNvSpPr/>
            <p:nvPr/>
          </p:nvSpPr>
          <p:spPr>
            <a:xfrm>
              <a:off x="658368" y="3246120"/>
              <a:ext cx="3547872" cy="256032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200" lang="en-US">
                  <a:solidFill>
                    <a:srgbClr val="0B1D3A"/>
                  </a:solidFill>
                </a:rPr>
                <a:t>NASA</a:t>
              </a:r>
              <a:endParaRPr dirty="0" sz="1200" lang="en-US"/>
            </a:p>
          </p:txBody>
        </p:sp>
        <p:sp>
          <p:nvSpPr>
            <p:cNvPr id="1048757" name="Text 17"/>
            <p:cNvSpPr/>
            <p:nvPr/>
          </p:nvSpPr>
          <p:spPr>
            <a:xfrm>
              <a:off x="658368" y="3502152"/>
              <a:ext cx="3547872" cy="22860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50" lang="en-US">
                  <a:solidFill>
                    <a:srgbClr val="64748B"/>
                  </a:solidFill>
                </a:rPr>
                <a:t>Space data processing &amp; storage</a:t>
              </a:r>
              <a:endParaRPr dirty="0" sz="950" lang="en-US"/>
            </a:p>
          </p:txBody>
        </p:sp>
        <p:sp>
          <p:nvSpPr>
            <p:cNvPr id="1048758" name="Shape 18"/>
            <p:cNvSpPr/>
            <p:nvPr/>
          </p:nvSpPr>
          <p:spPr>
            <a:xfrm>
              <a:off x="365760" y="3886200"/>
              <a:ext cx="3931920" cy="594360"/>
            </a:xfrm>
            <a:prstGeom prst="rect"/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759" name="Shape 19"/>
            <p:cNvSpPr/>
            <p:nvPr/>
          </p:nvSpPr>
          <p:spPr>
            <a:xfrm>
              <a:off x="365760" y="3886200"/>
              <a:ext cx="201168" cy="594360"/>
            </a:xfrm>
            <a:prstGeom prst="rect"/>
            <a:solidFill>
              <a:srgbClr val="1428A0"/>
            </a:solidFill>
            <a:ln w="12700">
              <a:solidFill>
                <a:srgbClr val="1428A0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760" name="Text 20"/>
            <p:cNvSpPr/>
            <p:nvPr/>
          </p:nvSpPr>
          <p:spPr>
            <a:xfrm>
              <a:off x="658368" y="3931920"/>
              <a:ext cx="3547872" cy="256032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200" lang="en-US">
                  <a:solidFill>
                    <a:srgbClr val="0B1D3A"/>
                  </a:solidFill>
                </a:rPr>
                <a:t>Samsung</a:t>
              </a:r>
              <a:endParaRPr dirty="0" sz="1200" lang="en-US"/>
            </a:p>
          </p:txBody>
        </p:sp>
        <p:sp>
          <p:nvSpPr>
            <p:cNvPr id="1048761" name="Text 21"/>
            <p:cNvSpPr/>
            <p:nvPr/>
          </p:nvSpPr>
          <p:spPr>
            <a:xfrm>
              <a:off x="658368" y="4187952"/>
              <a:ext cx="3547872" cy="22860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50" lang="en-US">
                  <a:solidFill>
                    <a:srgbClr val="64748B"/>
                  </a:solidFill>
                </a:rPr>
                <a:t>IoT device management at scale</a:t>
              </a:r>
              <a:endParaRPr dirty="0" sz="950" lang="en-US"/>
            </a:p>
          </p:txBody>
        </p:sp>
      </p:grpSp>
      <p:sp>
        <p:nvSpPr>
          <p:cNvPr id="1048762" name="Shape 40"/>
          <p:cNvSpPr/>
          <p:nvPr/>
        </p:nvSpPr>
        <p:spPr>
          <a:xfrm>
            <a:off x="365760" y="4709160"/>
            <a:ext cx="8412480" cy="310896"/>
          </a:xfrm>
          <a:prstGeom prst="rect"/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763" name="Text 41"/>
          <p:cNvSpPr/>
          <p:nvPr/>
        </p:nvSpPr>
        <p:spPr>
          <a:xfrm>
            <a:off x="365760" y="4709160"/>
            <a:ext cx="841248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9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Shape 0"/>
          <p:cNvSpPr/>
          <p:nvPr/>
        </p:nvSpPr>
        <p:spPr>
          <a:xfrm>
            <a:off x="365760" y="164592"/>
            <a:ext cx="1645920" cy="256032"/>
          </a:xfrm>
          <a:prstGeom prst="rect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768" name="Text 1"/>
          <p:cNvSpPr/>
          <p:nvPr/>
        </p:nvSpPr>
        <p:spPr>
          <a:xfrm>
            <a:off x="365760" y="164592"/>
            <a:ext cx="164592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00" lang="en-US">
                <a:solidFill>
                  <a:srgbClr val="FFFFFF"/>
                </a:solidFill>
              </a:rPr>
              <a:t>OPENSTACK SECTION</a:t>
            </a:r>
            <a:endParaRPr dirty="0" sz="700" lang="en-US"/>
          </a:p>
        </p:txBody>
      </p:sp>
      <p:sp>
        <p:nvSpPr>
          <p:cNvPr id="1048769" name="Text 2"/>
          <p:cNvSpPr/>
          <p:nvPr/>
        </p:nvSpPr>
        <p:spPr>
          <a:xfrm>
            <a:off x="365760" y="502920"/>
            <a:ext cx="841248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OpenStack</a:t>
            </a:r>
            <a:endParaRPr dirty="0" sz="3200" lang="en-US"/>
          </a:p>
        </p:txBody>
      </p:sp>
      <p:sp>
        <p:nvSpPr>
          <p:cNvPr id="1048770" name="Text 3"/>
          <p:cNvSpPr/>
          <p:nvPr/>
        </p:nvSpPr>
        <p:spPr>
          <a:xfrm>
            <a:off x="365760" y="1097280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endParaRPr dirty="0" sz="800" lang="en-US"/>
          </a:p>
        </p:txBody>
      </p:sp>
      <p:sp>
        <p:nvSpPr>
          <p:cNvPr id="1048771" name="Shape 6"/>
          <p:cNvSpPr/>
          <p:nvPr/>
        </p:nvSpPr>
        <p:spPr>
          <a:xfrm>
            <a:off x="685800" y="1417320"/>
            <a:ext cx="0" cy="3200400"/>
          </a:xfrm>
          <a:prstGeom prst="line"/>
          <a:noFill/>
          <a:ln w="254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772" name="Shape 7"/>
          <p:cNvSpPr/>
          <p:nvPr/>
        </p:nvSpPr>
        <p:spPr>
          <a:xfrm>
            <a:off x="566928" y="1362456"/>
            <a:ext cx="237744" cy="237744"/>
          </a:xfrm>
          <a:prstGeom prst="ellipse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773" name="Text 8"/>
          <p:cNvSpPr/>
          <p:nvPr/>
        </p:nvSpPr>
        <p:spPr>
          <a:xfrm>
            <a:off x="914400" y="1325880"/>
            <a:ext cx="777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FA5"/>
                </a:solidFill>
              </a:rPr>
              <a:t>2010</a:t>
            </a:r>
            <a:endParaRPr dirty="0" sz="1100" lang="en-US"/>
          </a:p>
        </p:txBody>
      </p:sp>
      <p:sp>
        <p:nvSpPr>
          <p:cNvPr id="1048774" name="Text 9"/>
          <p:cNvSpPr/>
          <p:nvPr/>
        </p:nvSpPr>
        <p:spPr>
          <a:xfrm>
            <a:off x="1783080" y="1325880"/>
            <a:ext cx="31089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/>
              <a:t>Launched by NASA &amp; Rackspace</a:t>
            </a:r>
          </a:p>
        </p:txBody>
      </p:sp>
      <p:sp>
        <p:nvSpPr>
          <p:cNvPr id="1048775" name="Shape 10"/>
          <p:cNvSpPr/>
          <p:nvPr/>
        </p:nvSpPr>
        <p:spPr>
          <a:xfrm>
            <a:off x="566928" y="2020824"/>
            <a:ext cx="237744" cy="237744"/>
          </a:xfrm>
          <a:prstGeom prst="ellipse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776" name="Text 11"/>
          <p:cNvSpPr/>
          <p:nvPr/>
        </p:nvSpPr>
        <p:spPr>
          <a:xfrm>
            <a:off x="914400" y="1984248"/>
            <a:ext cx="777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FA5"/>
                </a:solidFill>
              </a:rPr>
              <a:t>2012</a:t>
            </a:r>
            <a:endParaRPr dirty="0" sz="1100" lang="en-US"/>
          </a:p>
        </p:txBody>
      </p:sp>
      <p:sp>
        <p:nvSpPr>
          <p:cNvPr id="1048777" name="Text 12"/>
          <p:cNvSpPr/>
          <p:nvPr/>
        </p:nvSpPr>
        <p:spPr>
          <a:xfrm>
            <a:off x="1783080" y="1984248"/>
            <a:ext cx="31089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/>
              <a:t>OpenStack Foundation formed</a:t>
            </a:r>
          </a:p>
        </p:txBody>
      </p:sp>
      <p:sp>
        <p:nvSpPr>
          <p:cNvPr id="1048778" name="Shape 13"/>
          <p:cNvSpPr/>
          <p:nvPr/>
        </p:nvSpPr>
        <p:spPr>
          <a:xfrm>
            <a:off x="566928" y="2679192"/>
            <a:ext cx="237744" cy="237744"/>
          </a:xfrm>
          <a:prstGeom prst="ellipse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779" name="Text 14"/>
          <p:cNvSpPr/>
          <p:nvPr/>
        </p:nvSpPr>
        <p:spPr>
          <a:xfrm>
            <a:off x="914400" y="2642616"/>
            <a:ext cx="777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FA5"/>
                </a:solidFill>
              </a:rPr>
              <a:t>2016</a:t>
            </a:r>
            <a:endParaRPr dirty="0" sz="1100" lang="en-US"/>
          </a:p>
        </p:txBody>
      </p:sp>
      <p:sp>
        <p:nvSpPr>
          <p:cNvPr id="1048780" name="Text 15"/>
          <p:cNvSpPr/>
          <p:nvPr/>
        </p:nvSpPr>
        <p:spPr>
          <a:xfrm>
            <a:off x="1783080" y="2642616"/>
            <a:ext cx="31089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/>
              <a:t>150+ companies contributing</a:t>
            </a:r>
          </a:p>
        </p:txBody>
      </p:sp>
      <p:sp>
        <p:nvSpPr>
          <p:cNvPr id="1048781" name="Shape 16"/>
          <p:cNvSpPr/>
          <p:nvPr/>
        </p:nvSpPr>
        <p:spPr>
          <a:xfrm>
            <a:off x="566928" y="3337560"/>
            <a:ext cx="237744" cy="237744"/>
          </a:xfrm>
          <a:prstGeom prst="ellipse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782" name="Text 17"/>
          <p:cNvSpPr/>
          <p:nvPr/>
        </p:nvSpPr>
        <p:spPr>
          <a:xfrm>
            <a:off x="914400" y="3300984"/>
            <a:ext cx="777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FA5"/>
                </a:solidFill>
              </a:rPr>
              <a:t>2021</a:t>
            </a:r>
            <a:endParaRPr dirty="0" sz="1100" lang="en-US"/>
          </a:p>
        </p:txBody>
      </p:sp>
      <p:sp>
        <p:nvSpPr>
          <p:cNvPr id="1048783" name="Text 18"/>
          <p:cNvSpPr/>
          <p:nvPr/>
        </p:nvSpPr>
        <p:spPr>
          <a:xfrm>
            <a:off x="1783080" y="3309148"/>
            <a:ext cx="31089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/>
              <a:t>Open Infrastructure Foundation</a:t>
            </a:r>
          </a:p>
        </p:txBody>
      </p:sp>
      <p:sp>
        <p:nvSpPr>
          <p:cNvPr id="1048784" name="Shape 19"/>
          <p:cNvSpPr/>
          <p:nvPr/>
        </p:nvSpPr>
        <p:spPr>
          <a:xfrm>
            <a:off x="566928" y="3995928"/>
            <a:ext cx="237744" cy="237744"/>
          </a:xfrm>
          <a:prstGeom prst="ellipse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785" name="Text 20"/>
          <p:cNvSpPr/>
          <p:nvPr/>
        </p:nvSpPr>
        <p:spPr>
          <a:xfrm>
            <a:off x="914400" y="3959352"/>
            <a:ext cx="777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FA5"/>
                </a:solidFill>
              </a:rPr>
              <a:t>2024</a:t>
            </a:r>
            <a:endParaRPr dirty="0" sz="1100" lang="en-US"/>
          </a:p>
        </p:txBody>
      </p:sp>
      <p:sp>
        <p:nvSpPr>
          <p:cNvPr id="1048786" name="Text 21"/>
          <p:cNvSpPr/>
          <p:nvPr/>
        </p:nvSpPr>
        <p:spPr>
          <a:xfrm>
            <a:off x="1783080" y="3959352"/>
            <a:ext cx="31089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/>
              <a:t>Global private cloud leader</a:t>
            </a:r>
          </a:p>
        </p:txBody>
      </p:sp>
      <p:grpSp>
        <p:nvGrpSpPr>
          <p:cNvPr id="50" name="Group 2"/>
          <p:cNvGrpSpPr/>
          <p:nvPr/>
        </p:nvGrpSpPr>
        <p:grpSpPr>
          <a:xfrm>
            <a:off x="5071981" y="457200"/>
            <a:ext cx="3703320" cy="3886200"/>
            <a:chOff x="5212080" y="457200"/>
            <a:chExt cx="3703320" cy="3886200"/>
          </a:xfrm>
        </p:grpSpPr>
        <p:sp>
          <p:nvSpPr>
            <p:cNvPr id="1048787" name="Shape 4"/>
            <p:cNvSpPr/>
            <p:nvPr/>
          </p:nvSpPr>
          <p:spPr>
            <a:xfrm>
              <a:off x="5943600" y="457200"/>
              <a:ext cx="2560320" cy="914400"/>
            </a:xfrm>
            <a:prstGeom prst="rect"/>
            <a:noFill/>
            <a:ln w="12700">
              <a:solidFill>
                <a:srgbClr val="00BFA5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788" name="Text 5"/>
            <p:cNvSpPr/>
            <p:nvPr/>
          </p:nvSpPr>
          <p:spPr>
            <a:xfrm>
              <a:off x="5943600" y="457200"/>
              <a:ext cx="2560320" cy="91440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1800" lang="en-US">
                  <a:solidFill>
                    <a:srgbClr val="0B1D3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OpenStack</a:t>
              </a:r>
              <a:endParaRPr dirty="0" sz="1800" lang="en-US"/>
            </a:p>
          </p:txBody>
        </p:sp>
        <p:sp>
          <p:nvSpPr>
            <p:cNvPr id="1048789" name="Shape 22"/>
            <p:cNvSpPr/>
            <p:nvPr/>
          </p:nvSpPr>
          <p:spPr>
            <a:xfrm>
              <a:off x="5212080" y="1463040"/>
              <a:ext cx="1783080" cy="1325880"/>
            </a:xfrm>
            <a:prstGeom prst="rect"/>
            <a:noFill/>
            <a:ln w="19050">
              <a:solidFill>
                <a:srgbClr val="00BFA5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pic>
          <p:nvPicPr>
            <p:cNvPr id="2097176" name="Image 0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/>
            <a:stretch>
              <a:fillRect/>
            </a:stretch>
          </p:blipFill>
          <p:spPr>
            <a:xfrm>
              <a:off x="5321808" y="1572768"/>
              <a:ext cx="384048" cy="384048"/>
            </a:xfrm>
            <a:prstGeom prst="rect"/>
          </p:spPr>
        </p:pic>
        <p:sp>
          <p:nvSpPr>
            <p:cNvPr id="1048790" name="Text 23"/>
            <p:cNvSpPr/>
            <p:nvPr/>
          </p:nvSpPr>
          <p:spPr>
            <a:xfrm>
              <a:off x="5760720" y="1600200"/>
              <a:ext cx="1143000" cy="256032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050" lang="en-US"/>
                <a:t>Open Source</a:t>
              </a:r>
              <a:endParaRPr dirty="0" sz="1050" lang="en-US"/>
            </a:p>
          </p:txBody>
        </p:sp>
        <p:sp>
          <p:nvSpPr>
            <p:cNvPr id="1048791" name="Text 24"/>
            <p:cNvSpPr/>
            <p:nvPr/>
          </p:nvSpPr>
          <p:spPr>
            <a:xfrm>
              <a:off x="5303520" y="2057400"/>
              <a:ext cx="1600200" cy="59436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94A3B8"/>
                  </a:solidFill>
                </a:rPr>
                <a:t>Apache 2.0 license — free to use &amp; modify</a:t>
              </a:r>
              <a:endParaRPr dirty="0" sz="900" lang="en-US"/>
            </a:p>
          </p:txBody>
        </p:sp>
        <p:sp>
          <p:nvSpPr>
            <p:cNvPr id="1048792" name="Shape 25"/>
            <p:cNvSpPr/>
            <p:nvPr/>
          </p:nvSpPr>
          <p:spPr>
            <a:xfrm>
              <a:off x="7132320" y="1463040"/>
              <a:ext cx="1783080" cy="1325880"/>
            </a:xfrm>
            <a:prstGeom prst="rect"/>
            <a:noFill/>
            <a:ln w="19050">
              <a:solidFill>
                <a:srgbClr val="1A73E8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pic>
          <p:nvPicPr>
            <p:cNvPr id="2097177" name="Image 1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7242048" y="1572768"/>
              <a:ext cx="384048" cy="384048"/>
            </a:xfrm>
            <a:prstGeom prst="rect"/>
          </p:spPr>
        </p:pic>
        <p:sp>
          <p:nvSpPr>
            <p:cNvPr id="1048793" name="Text 26"/>
            <p:cNvSpPr/>
            <p:nvPr/>
          </p:nvSpPr>
          <p:spPr>
            <a:xfrm>
              <a:off x="7680960" y="1600200"/>
              <a:ext cx="1143000" cy="256032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050" lang="en-US"/>
                <a:t>Private Cloud</a:t>
              </a:r>
              <a:endParaRPr dirty="0" sz="1050" lang="en-US"/>
            </a:p>
          </p:txBody>
        </p:sp>
        <p:sp>
          <p:nvSpPr>
            <p:cNvPr id="1048794" name="Text 27"/>
            <p:cNvSpPr/>
            <p:nvPr/>
          </p:nvSpPr>
          <p:spPr>
            <a:xfrm>
              <a:off x="7223760" y="2057400"/>
              <a:ext cx="1600200" cy="59436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94A3B8"/>
                  </a:solidFill>
                </a:rPr>
                <a:t>Deploy on your own infrastructure</a:t>
              </a:r>
              <a:endParaRPr dirty="0" sz="900" lang="en-US"/>
            </a:p>
          </p:txBody>
        </p:sp>
        <p:sp>
          <p:nvSpPr>
            <p:cNvPr id="1048795" name="Shape 28"/>
            <p:cNvSpPr/>
            <p:nvPr/>
          </p:nvSpPr>
          <p:spPr>
            <a:xfrm>
              <a:off x="5212080" y="3017520"/>
              <a:ext cx="1783080" cy="1325880"/>
            </a:xfrm>
            <a:prstGeom prst="rect"/>
            <a:noFill/>
            <a:ln w="19050">
              <a:solidFill>
                <a:srgbClr val="FF6B35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pic>
          <p:nvPicPr>
            <p:cNvPr id="2097178" name="Image 2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3"/>
            <a:stretch>
              <a:fillRect/>
            </a:stretch>
          </p:blipFill>
          <p:spPr>
            <a:xfrm>
              <a:off x="5321808" y="3127248"/>
              <a:ext cx="384048" cy="384048"/>
            </a:xfrm>
            <a:prstGeom prst="rect"/>
          </p:spPr>
        </p:pic>
        <p:sp>
          <p:nvSpPr>
            <p:cNvPr id="1048796" name="Text 29"/>
            <p:cNvSpPr/>
            <p:nvPr/>
          </p:nvSpPr>
          <p:spPr>
            <a:xfrm>
              <a:off x="5760720" y="3154680"/>
              <a:ext cx="1143000" cy="256032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050" lang="en-US"/>
                <a:t>Modular Design</a:t>
              </a:r>
              <a:endParaRPr dirty="0" sz="1050" lang="en-US"/>
            </a:p>
          </p:txBody>
        </p:sp>
        <p:sp>
          <p:nvSpPr>
            <p:cNvPr id="1048797" name="Text 30"/>
            <p:cNvSpPr/>
            <p:nvPr/>
          </p:nvSpPr>
          <p:spPr>
            <a:xfrm>
              <a:off x="5303520" y="3611880"/>
              <a:ext cx="1600200" cy="59436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94A3B8"/>
                  </a:solidFill>
                </a:rPr>
                <a:t>Choose only the components you need</a:t>
              </a:r>
              <a:endParaRPr dirty="0" sz="900" lang="en-US"/>
            </a:p>
          </p:txBody>
        </p:sp>
        <p:sp>
          <p:nvSpPr>
            <p:cNvPr id="1048798" name="Shape 31"/>
            <p:cNvSpPr/>
            <p:nvPr/>
          </p:nvSpPr>
          <p:spPr>
            <a:xfrm>
              <a:off x="7132320" y="3017520"/>
              <a:ext cx="1783080" cy="1325880"/>
            </a:xfrm>
            <a:prstGeom prst="rect"/>
            <a:noFill/>
            <a:ln w="19050">
              <a:solidFill>
                <a:srgbClr val="7C3AED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pic>
          <p:nvPicPr>
            <p:cNvPr id="2097179" name="Image 3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4"/>
            <a:stretch>
              <a:fillRect/>
            </a:stretch>
          </p:blipFill>
          <p:spPr>
            <a:xfrm>
              <a:off x="7242048" y="3127248"/>
              <a:ext cx="384048" cy="384048"/>
            </a:xfrm>
            <a:prstGeom prst="rect"/>
          </p:spPr>
        </p:pic>
        <p:sp>
          <p:nvSpPr>
            <p:cNvPr id="1048799" name="Text 32"/>
            <p:cNvSpPr/>
            <p:nvPr/>
          </p:nvSpPr>
          <p:spPr>
            <a:xfrm>
              <a:off x="7680960" y="3154680"/>
              <a:ext cx="1143000" cy="256032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050" lang="en-US"/>
                <a:t>Community Driven</a:t>
              </a:r>
              <a:endParaRPr dirty="0" sz="1050" lang="en-US"/>
            </a:p>
          </p:txBody>
        </p:sp>
        <p:sp>
          <p:nvSpPr>
            <p:cNvPr id="1048800" name="Text 33"/>
            <p:cNvSpPr/>
            <p:nvPr/>
          </p:nvSpPr>
          <p:spPr>
            <a:xfrm>
              <a:off x="7223760" y="3611880"/>
              <a:ext cx="1600200" cy="59436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94A3B8"/>
                  </a:solidFill>
                </a:rPr>
                <a:t>60,000+ contributors worldwide</a:t>
              </a:r>
              <a:endParaRPr dirty="0" sz="900" lang="en-US"/>
            </a:p>
          </p:txBody>
        </p:sp>
      </p:grpSp>
      <p:sp>
        <p:nvSpPr>
          <p:cNvPr id="1048801" name="Shape 34"/>
          <p:cNvSpPr/>
          <p:nvPr/>
        </p:nvSpPr>
        <p:spPr>
          <a:xfrm>
            <a:off x="0" y="5102352"/>
            <a:ext cx="9144000" cy="41148"/>
          </a:xfrm>
          <a:prstGeom prst="rect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802" name="Shape 32"/>
          <p:cNvSpPr/>
          <p:nvPr/>
        </p:nvSpPr>
        <p:spPr>
          <a:xfrm>
            <a:off x="365760" y="4727448"/>
            <a:ext cx="8412480" cy="292608"/>
          </a:xfrm>
          <a:prstGeom prst="rect"/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Shape 0"/>
          <p:cNvSpPr/>
          <p:nvPr/>
        </p:nvSpPr>
        <p:spPr>
          <a:xfrm>
            <a:off x="365760" y="164592"/>
            <a:ext cx="1645920" cy="256032"/>
          </a:xfrm>
          <a:prstGeom prst="rect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807" name="Text 1"/>
          <p:cNvSpPr/>
          <p:nvPr/>
        </p:nvSpPr>
        <p:spPr>
          <a:xfrm>
            <a:off x="365760" y="164592"/>
            <a:ext cx="164592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00" lang="en-US">
                <a:solidFill>
                  <a:srgbClr val="FFFFFF"/>
                </a:solidFill>
              </a:rPr>
              <a:t>OPENSTACK SECTION</a:t>
            </a:r>
            <a:endParaRPr dirty="0" sz="700" lang="en-US"/>
          </a:p>
        </p:txBody>
      </p:sp>
      <p:sp>
        <p:nvSpPr>
          <p:cNvPr id="1048808" name="Text 2"/>
          <p:cNvSpPr/>
          <p:nvPr/>
        </p:nvSpPr>
        <p:spPr>
          <a:xfrm>
            <a:off x="365760" y="502920"/>
            <a:ext cx="84124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 Core Components</a:t>
            </a:r>
            <a:endParaRPr dirty="0" sz="3000" lang="en-US"/>
          </a:p>
        </p:txBody>
      </p:sp>
      <p:grpSp>
        <p:nvGrpSpPr>
          <p:cNvPr id="54" name="Group 43"/>
          <p:cNvGrpSpPr/>
          <p:nvPr/>
        </p:nvGrpSpPr>
        <p:grpSpPr>
          <a:xfrm>
            <a:off x="3599253" y="1168628"/>
            <a:ext cx="2194560" cy="1645920"/>
            <a:chOff x="3474720" y="1417320"/>
            <a:chExt cx="2194560" cy="1645920"/>
          </a:xfrm>
        </p:grpSpPr>
        <p:sp>
          <p:nvSpPr>
            <p:cNvPr id="1048809" name="Shape 4"/>
            <p:cNvSpPr/>
            <p:nvPr/>
          </p:nvSpPr>
          <p:spPr>
            <a:xfrm>
              <a:off x="3474720" y="1417320"/>
              <a:ext cx="2194560" cy="1645920"/>
            </a:xfrm>
            <a:prstGeom prst="ellipse"/>
            <a:noFill/>
            <a:ln w="25400">
              <a:solidFill>
                <a:srgbClr val="00BFA5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810" name="Text 5"/>
            <p:cNvSpPr/>
            <p:nvPr/>
          </p:nvSpPr>
          <p:spPr>
            <a:xfrm>
              <a:off x="3474720" y="1417320"/>
              <a:ext cx="2194560" cy="164592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1800" lang="en-US">
                  <a:solidFill>
                    <a:srgbClr val="00BFA5"/>
                  </a:solidFill>
                </a:rPr>
                <a:t>Open</a:t>
              </a:r>
              <a:endParaRPr dirty="0" sz="1800" lang="en-US"/>
            </a:p>
            <a:p>
              <a:pPr algn="ctr" indent="0" marL="0">
                <a:buNone/>
              </a:pPr>
              <a:r>
                <a:rPr b="1" dirty="0" sz="1800" lang="en-US">
                  <a:solidFill>
                    <a:srgbClr val="00BFA5"/>
                  </a:solidFill>
                </a:rPr>
                <a:t>Stack</a:t>
              </a:r>
              <a:endParaRPr dirty="0" sz="1800" lang="en-US"/>
            </a:p>
          </p:txBody>
        </p:sp>
      </p:grpSp>
      <p:grpSp>
        <p:nvGrpSpPr>
          <p:cNvPr id="55" name="Group 45"/>
          <p:cNvGrpSpPr/>
          <p:nvPr/>
        </p:nvGrpSpPr>
        <p:grpSpPr>
          <a:xfrm>
            <a:off x="676656" y="1051560"/>
            <a:ext cx="2468880" cy="3383280"/>
            <a:chOff x="182880" y="1051560"/>
            <a:chExt cx="2468880" cy="3383280"/>
          </a:xfrm>
        </p:grpSpPr>
        <p:sp>
          <p:nvSpPr>
            <p:cNvPr id="1048811" name="Text 3"/>
            <p:cNvSpPr/>
            <p:nvPr/>
          </p:nvSpPr>
          <p:spPr>
            <a:xfrm>
              <a:off x="365760" y="1051560"/>
              <a:ext cx="1828800" cy="201168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endParaRPr dirty="0" sz="800" lang="en-US"/>
            </a:p>
          </p:txBody>
        </p:sp>
        <p:sp>
          <p:nvSpPr>
            <p:cNvPr id="1048812" name="Shape 7"/>
            <p:cNvSpPr/>
            <p:nvPr/>
          </p:nvSpPr>
          <p:spPr>
            <a:xfrm>
              <a:off x="182880" y="1188720"/>
              <a:ext cx="2468880" cy="1417320"/>
            </a:xfrm>
            <a:prstGeom prst="rect"/>
            <a:solidFill>
              <a:srgbClr val="FFFFFF"/>
            </a:solidFill>
            <a:ln w="19050">
              <a:solidFill>
                <a:srgbClr val="1A73E8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813" name="Shape 8"/>
            <p:cNvSpPr/>
            <p:nvPr/>
          </p:nvSpPr>
          <p:spPr>
            <a:xfrm>
              <a:off x="182880" y="1188720"/>
              <a:ext cx="2468880" cy="256032"/>
            </a:xfrm>
            <a:prstGeom prst="rect"/>
            <a:solidFill>
              <a:srgbClr val="1A73E8"/>
            </a:solidFill>
            <a:ln w="12700">
              <a:solidFill>
                <a:srgbClr val="1A73E8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814" name="Text 9"/>
            <p:cNvSpPr/>
            <p:nvPr/>
          </p:nvSpPr>
          <p:spPr>
            <a:xfrm>
              <a:off x="182880" y="1188720"/>
              <a:ext cx="2468880" cy="256032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1200" lang="en-US">
                  <a:solidFill>
                    <a:srgbClr val="FFFFFF"/>
                  </a:solidFill>
                </a:rPr>
                <a:t>Nova</a:t>
              </a:r>
              <a:endParaRPr dirty="0" sz="1200" lang="en-US"/>
            </a:p>
          </p:txBody>
        </p:sp>
        <p:pic>
          <p:nvPicPr>
            <p:cNvPr id="2097180" name="Image 0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/>
            <a:stretch>
              <a:fillRect/>
            </a:stretch>
          </p:blipFill>
          <p:spPr>
            <a:xfrm>
              <a:off x="292608" y="1536192"/>
              <a:ext cx="384048" cy="384048"/>
            </a:xfrm>
            <a:prstGeom prst="rect"/>
          </p:spPr>
        </p:pic>
        <p:sp>
          <p:nvSpPr>
            <p:cNvPr id="1048815" name="Text 10"/>
            <p:cNvSpPr/>
            <p:nvPr/>
          </p:nvSpPr>
          <p:spPr>
            <a:xfrm>
              <a:off x="731520" y="1508760"/>
              <a:ext cx="182880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950" lang="en-US">
                  <a:solidFill>
                    <a:srgbClr val="0B1D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Compute Service</a:t>
              </a:r>
              <a:endParaRPr dirty="0" sz="950" lang="en-US"/>
            </a:p>
          </p:txBody>
        </p:sp>
        <p:sp>
          <p:nvSpPr>
            <p:cNvPr id="1048816" name="Text 11"/>
            <p:cNvSpPr/>
            <p:nvPr/>
          </p:nvSpPr>
          <p:spPr>
            <a:xfrm>
              <a:off x="274320" y="1938528"/>
              <a:ext cx="2286000" cy="5029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Manages virtual machines &amp; compute resources</a:t>
              </a:r>
              <a:endParaRPr dirty="0" sz="900" lang="en-US"/>
            </a:p>
          </p:txBody>
        </p:sp>
        <p:sp>
          <p:nvSpPr>
            <p:cNvPr id="1048817" name="Shape 13"/>
            <p:cNvSpPr/>
            <p:nvPr/>
          </p:nvSpPr>
          <p:spPr>
            <a:xfrm>
              <a:off x="182880" y="3017520"/>
              <a:ext cx="2468880" cy="1417320"/>
            </a:xfrm>
            <a:prstGeom prst="rect"/>
            <a:solidFill>
              <a:srgbClr val="FFFFFF"/>
            </a:solidFill>
            <a:ln w="19050">
              <a:solidFill>
                <a:srgbClr val="00BFA5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818" name="Shape 14"/>
            <p:cNvSpPr/>
            <p:nvPr/>
          </p:nvSpPr>
          <p:spPr>
            <a:xfrm>
              <a:off x="182880" y="3017520"/>
              <a:ext cx="2468880" cy="256032"/>
            </a:xfrm>
            <a:prstGeom prst="rect"/>
            <a:solidFill>
              <a:srgbClr val="00BFA5"/>
            </a:solidFill>
            <a:ln w="12700">
              <a:solidFill>
                <a:srgbClr val="00BFA5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819" name="Text 15"/>
            <p:cNvSpPr/>
            <p:nvPr/>
          </p:nvSpPr>
          <p:spPr>
            <a:xfrm>
              <a:off x="182880" y="3017520"/>
              <a:ext cx="2468880" cy="256032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1200" lang="en-US">
                  <a:solidFill>
                    <a:srgbClr val="FFFFFF"/>
                  </a:solidFill>
                </a:rPr>
                <a:t>Neutron</a:t>
              </a:r>
              <a:endParaRPr dirty="0" sz="1200" lang="en-US"/>
            </a:p>
          </p:txBody>
        </p:sp>
        <p:pic>
          <p:nvPicPr>
            <p:cNvPr id="2097181" name="Image 1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292608" y="3364992"/>
              <a:ext cx="384048" cy="384048"/>
            </a:xfrm>
            <a:prstGeom prst="rect"/>
          </p:spPr>
        </p:pic>
        <p:sp>
          <p:nvSpPr>
            <p:cNvPr id="1048820" name="Text 16"/>
            <p:cNvSpPr/>
            <p:nvPr/>
          </p:nvSpPr>
          <p:spPr>
            <a:xfrm>
              <a:off x="731520" y="3337560"/>
              <a:ext cx="182880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950" lang="en-US">
                  <a:solidFill>
                    <a:srgbClr val="0B1D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Networking Service</a:t>
              </a:r>
              <a:endParaRPr dirty="0" sz="950" lang="en-US"/>
            </a:p>
          </p:txBody>
        </p:sp>
        <p:sp>
          <p:nvSpPr>
            <p:cNvPr id="1048821" name="Text 17"/>
            <p:cNvSpPr/>
            <p:nvPr/>
          </p:nvSpPr>
          <p:spPr>
            <a:xfrm>
              <a:off x="274320" y="3767328"/>
              <a:ext cx="2286000" cy="5029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Network connectivity between instances</a:t>
              </a:r>
              <a:endParaRPr dirty="0" sz="900" lang="en-US"/>
            </a:p>
          </p:txBody>
        </p:sp>
      </p:grpSp>
      <p:grpSp>
        <p:nvGrpSpPr>
          <p:cNvPr id="56" name="Group 44"/>
          <p:cNvGrpSpPr/>
          <p:nvPr/>
        </p:nvGrpSpPr>
        <p:grpSpPr>
          <a:xfrm>
            <a:off x="6309360" y="1188720"/>
            <a:ext cx="2468880" cy="3246120"/>
            <a:chOff x="6766560" y="1188720"/>
            <a:chExt cx="2468880" cy="3246120"/>
          </a:xfrm>
        </p:grpSpPr>
        <p:sp>
          <p:nvSpPr>
            <p:cNvPr id="1048822" name="Shape 19"/>
            <p:cNvSpPr/>
            <p:nvPr/>
          </p:nvSpPr>
          <p:spPr>
            <a:xfrm>
              <a:off x="6766560" y="1188720"/>
              <a:ext cx="2468880" cy="1417320"/>
            </a:xfrm>
            <a:prstGeom prst="rect"/>
            <a:solidFill>
              <a:srgbClr val="FFFFFF"/>
            </a:solidFill>
            <a:ln w="19050">
              <a:solidFill>
                <a:srgbClr val="FF6B35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823" name="Shape 20"/>
            <p:cNvSpPr/>
            <p:nvPr/>
          </p:nvSpPr>
          <p:spPr>
            <a:xfrm>
              <a:off x="6766560" y="1188720"/>
              <a:ext cx="2468880" cy="256032"/>
            </a:xfrm>
            <a:prstGeom prst="rect"/>
            <a:solidFill>
              <a:srgbClr val="FF6B35"/>
            </a:solidFill>
            <a:ln w="12700">
              <a:solidFill>
                <a:srgbClr val="FF6B35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824" name="Text 21"/>
            <p:cNvSpPr/>
            <p:nvPr/>
          </p:nvSpPr>
          <p:spPr>
            <a:xfrm>
              <a:off x="6766560" y="1188720"/>
              <a:ext cx="2468880" cy="256032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1200" lang="en-US">
                  <a:solidFill>
                    <a:srgbClr val="FFFFFF"/>
                  </a:solidFill>
                </a:rPr>
                <a:t>Swift</a:t>
              </a:r>
              <a:endParaRPr dirty="0" sz="1200" lang="en-US"/>
            </a:p>
          </p:txBody>
        </p:sp>
        <p:pic>
          <p:nvPicPr>
            <p:cNvPr id="2097182" name="Image 2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3"/>
            <a:stretch>
              <a:fillRect/>
            </a:stretch>
          </p:blipFill>
          <p:spPr>
            <a:xfrm>
              <a:off x="6876288" y="1536192"/>
              <a:ext cx="384048" cy="384048"/>
            </a:xfrm>
            <a:prstGeom prst="rect"/>
          </p:spPr>
        </p:pic>
        <p:sp>
          <p:nvSpPr>
            <p:cNvPr id="1048825" name="Text 22"/>
            <p:cNvSpPr/>
            <p:nvPr/>
          </p:nvSpPr>
          <p:spPr>
            <a:xfrm>
              <a:off x="7315200" y="1508760"/>
              <a:ext cx="182880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950" lang="en-US">
                  <a:solidFill>
                    <a:srgbClr val="0B1D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Object Storage</a:t>
              </a:r>
              <a:endParaRPr dirty="0" sz="950" lang="en-US"/>
            </a:p>
          </p:txBody>
        </p:sp>
        <p:sp>
          <p:nvSpPr>
            <p:cNvPr id="1048826" name="Text 23"/>
            <p:cNvSpPr/>
            <p:nvPr/>
          </p:nvSpPr>
          <p:spPr>
            <a:xfrm>
              <a:off x="6858000" y="1938528"/>
              <a:ext cx="2286000" cy="5029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Distributed object/blob store</a:t>
              </a:r>
              <a:endParaRPr dirty="0" sz="900" lang="en-US"/>
            </a:p>
          </p:txBody>
        </p:sp>
        <p:sp>
          <p:nvSpPr>
            <p:cNvPr id="1048827" name="Shape 25"/>
            <p:cNvSpPr/>
            <p:nvPr/>
          </p:nvSpPr>
          <p:spPr>
            <a:xfrm>
              <a:off x="6766560" y="3017520"/>
              <a:ext cx="2468880" cy="1417320"/>
            </a:xfrm>
            <a:prstGeom prst="rect"/>
            <a:solidFill>
              <a:srgbClr val="FFFFFF"/>
            </a:solidFill>
            <a:ln w="19050">
              <a:solidFill>
                <a:srgbClr val="7C3AED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828" name="Shape 26"/>
            <p:cNvSpPr/>
            <p:nvPr/>
          </p:nvSpPr>
          <p:spPr>
            <a:xfrm>
              <a:off x="6766560" y="3017520"/>
              <a:ext cx="2468880" cy="256032"/>
            </a:xfrm>
            <a:prstGeom prst="rect"/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829" name="Text 27"/>
            <p:cNvSpPr/>
            <p:nvPr/>
          </p:nvSpPr>
          <p:spPr>
            <a:xfrm>
              <a:off x="6766560" y="3017520"/>
              <a:ext cx="2468880" cy="256032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1200" lang="en-US">
                  <a:solidFill>
                    <a:srgbClr val="FFFFFF"/>
                  </a:solidFill>
                </a:rPr>
                <a:t>Cinder</a:t>
              </a:r>
              <a:endParaRPr dirty="0" sz="1200" lang="en-US"/>
            </a:p>
          </p:txBody>
        </p:sp>
        <p:pic>
          <p:nvPicPr>
            <p:cNvPr id="2097183" name="Image 3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4"/>
            <a:stretch>
              <a:fillRect/>
            </a:stretch>
          </p:blipFill>
          <p:spPr>
            <a:xfrm>
              <a:off x="6876288" y="3364992"/>
              <a:ext cx="384048" cy="384048"/>
            </a:xfrm>
            <a:prstGeom prst="rect"/>
          </p:spPr>
        </p:pic>
        <p:sp>
          <p:nvSpPr>
            <p:cNvPr id="1048830" name="Text 28"/>
            <p:cNvSpPr/>
            <p:nvPr/>
          </p:nvSpPr>
          <p:spPr>
            <a:xfrm>
              <a:off x="7315200" y="3337560"/>
              <a:ext cx="182880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950" lang="en-US">
                  <a:solidFill>
                    <a:srgbClr val="0B1D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Block Storage</a:t>
              </a:r>
              <a:endParaRPr dirty="0" sz="950" lang="en-US"/>
            </a:p>
          </p:txBody>
        </p:sp>
        <p:sp>
          <p:nvSpPr>
            <p:cNvPr id="1048831" name="Text 29"/>
            <p:cNvSpPr/>
            <p:nvPr/>
          </p:nvSpPr>
          <p:spPr>
            <a:xfrm>
              <a:off x="6858000" y="3767328"/>
              <a:ext cx="2286000" cy="5029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Persistent block storage volumes</a:t>
              </a:r>
              <a:endParaRPr dirty="0" sz="900" lang="en-US"/>
            </a:p>
          </p:txBody>
        </p:sp>
      </p:grpSp>
      <p:grpSp>
        <p:nvGrpSpPr>
          <p:cNvPr id="57" name="Group 42"/>
          <p:cNvGrpSpPr/>
          <p:nvPr/>
        </p:nvGrpSpPr>
        <p:grpSpPr>
          <a:xfrm>
            <a:off x="3584448" y="3016960"/>
            <a:ext cx="2468880" cy="1417320"/>
            <a:chOff x="3474720" y="4069080"/>
            <a:chExt cx="2468880" cy="1417320"/>
          </a:xfrm>
        </p:grpSpPr>
        <p:sp>
          <p:nvSpPr>
            <p:cNvPr id="1048832" name="Shape 31"/>
            <p:cNvSpPr/>
            <p:nvPr/>
          </p:nvSpPr>
          <p:spPr>
            <a:xfrm>
              <a:off x="3474720" y="4069080"/>
              <a:ext cx="2468880" cy="1417320"/>
            </a:xfrm>
            <a:prstGeom prst="rect"/>
            <a:solidFill>
              <a:srgbClr val="FFFFFF"/>
            </a:solidFill>
            <a:ln w="19050">
              <a:solidFill>
                <a:srgbClr val="0891B2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sp>
          <p:nvSpPr>
            <p:cNvPr id="1048833" name="Shape 32"/>
            <p:cNvSpPr/>
            <p:nvPr/>
          </p:nvSpPr>
          <p:spPr>
            <a:xfrm>
              <a:off x="3474720" y="4069080"/>
              <a:ext cx="2468880" cy="256032"/>
            </a:xfrm>
            <a:prstGeom prst="rect"/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p>
              <a:endParaRPr lang="en-GB"/>
            </a:p>
          </p:txBody>
        </p:sp>
        <p:sp>
          <p:nvSpPr>
            <p:cNvPr id="1048834" name="Text 33"/>
            <p:cNvSpPr/>
            <p:nvPr/>
          </p:nvSpPr>
          <p:spPr>
            <a:xfrm>
              <a:off x="3474720" y="4069080"/>
              <a:ext cx="2468880" cy="256032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1200" lang="en-US">
                  <a:solidFill>
                    <a:srgbClr val="FFFFFF"/>
                  </a:solidFill>
                </a:rPr>
                <a:t>Horizon</a:t>
              </a:r>
              <a:endParaRPr dirty="0" sz="1200" lang="en-US"/>
            </a:p>
          </p:txBody>
        </p:sp>
        <p:pic>
          <p:nvPicPr>
            <p:cNvPr id="2097184" name="Image 4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5"/>
            <a:stretch>
              <a:fillRect/>
            </a:stretch>
          </p:blipFill>
          <p:spPr>
            <a:xfrm>
              <a:off x="3584448" y="4416552"/>
              <a:ext cx="384048" cy="384048"/>
            </a:xfrm>
            <a:prstGeom prst="rect"/>
          </p:spPr>
        </p:pic>
        <p:sp>
          <p:nvSpPr>
            <p:cNvPr id="1048835" name="Text 34"/>
            <p:cNvSpPr/>
            <p:nvPr/>
          </p:nvSpPr>
          <p:spPr>
            <a:xfrm>
              <a:off x="4023360" y="4389120"/>
              <a:ext cx="1828800" cy="2743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950" lang="en-US">
                  <a:solidFill>
                    <a:srgbClr val="0B1D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Dashboard</a:t>
              </a:r>
              <a:endParaRPr dirty="0" sz="950" lang="en-US"/>
            </a:p>
          </p:txBody>
        </p:sp>
        <p:sp>
          <p:nvSpPr>
            <p:cNvPr id="1048836" name="Text 35"/>
            <p:cNvSpPr/>
            <p:nvPr/>
          </p:nvSpPr>
          <p:spPr>
            <a:xfrm>
              <a:off x="3566160" y="4818888"/>
              <a:ext cx="2286000" cy="50292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900" lang="en-US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Web-based management interface</a:t>
              </a:r>
              <a:endParaRPr dirty="0" sz="900" lang="en-US"/>
            </a:p>
          </p:txBody>
        </p:sp>
      </p:grpSp>
      <p:sp>
        <p:nvSpPr>
          <p:cNvPr id="1048837" name="Shape 32"/>
          <p:cNvSpPr/>
          <p:nvPr/>
        </p:nvSpPr>
        <p:spPr>
          <a:xfrm>
            <a:off x="365760" y="4789916"/>
            <a:ext cx="8412480" cy="292608"/>
          </a:xfrm>
          <a:prstGeom prst="rect"/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Shape 0"/>
          <p:cNvSpPr/>
          <p:nvPr/>
        </p:nvSpPr>
        <p:spPr>
          <a:xfrm>
            <a:off x="365760" y="164592"/>
            <a:ext cx="1645920" cy="256032"/>
          </a:xfrm>
          <a:prstGeom prst="rect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842" name="Text 1"/>
          <p:cNvSpPr/>
          <p:nvPr/>
        </p:nvSpPr>
        <p:spPr>
          <a:xfrm>
            <a:off x="365760" y="164592"/>
            <a:ext cx="164592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00" lang="en-US">
                <a:solidFill>
                  <a:srgbClr val="FFFFFF"/>
                </a:solidFill>
              </a:rPr>
              <a:t>OPENSTACK SECTION</a:t>
            </a:r>
            <a:endParaRPr dirty="0" sz="700" lang="en-US"/>
          </a:p>
        </p:txBody>
      </p:sp>
      <p:sp>
        <p:nvSpPr>
          <p:cNvPr id="1048843" name="Text 2"/>
          <p:cNvSpPr/>
          <p:nvPr/>
        </p:nvSpPr>
        <p:spPr>
          <a:xfrm>
            <a:off x="365760" y="502920"/>
            <a:ext cx="84124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700" lang="en-US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 — Advantages &amp; Disadvantages</a:t>
            </a:r>
            <a:endParaRPr dirty="0" sz="2700" lang="en-US"/>
          </a:p>
        </p:txBody>
      </p:sp>
      <p:sp>
        <p:nvSpPr>
          <p:cNvPr id="1048844" name="Text 3"/>
          <p:cNvSpPr/>
          <p:nvPr/>
        </p:nvSpPr>
        <p:spPr>
          <a:xfrm>
            <a:off x="365760" y="1051560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endParaRPr dirty="0" sz="800" lang="en-US"/>
          </a:p>
        </p:txBody>
      </p:sp>
      <p:sp>
        <p:nvSpPr>
          <p:cNvPr id="1048845" name="Shape 4"/>
          <p:cNvSpPr/>
          <p:nvPr/>
        </p:nvSpPr>
        <p:spPr>
          <a:xfrm>
            <a:off x="365760" y="1371600"/>
            <a:ext cx="3931920" cy="365760"/>
          </a:xfrm>
          <a:prstGeom prst="rect"/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846" name="Text 5"/>
          <p:cNvSpPr/>
          <p:nvPr/>
        </p:nvSpPr>
        <p:spPr>
          <a:xfrm>
            <a:off x="365760" y="1371600"/>
            <a:ext cx="393192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✓  ADVANTAGES</a:t>
            </a:r>
            <a:endParaRPr dirty="0" sz="1300" lang="en-US"/>
          </a:p>
        </p:txBody>
      </p:sp>
      <p:sp>
        <p:nvSpPr>
          <p:cNvPr id="1048847" name="Shape 6"/>
          <p:cNvSpPr/>
          <p:nvPr/>
        </p:nvSpPr>
        <p:spPr>
          <a:xfrm>
            <a:off x="365760" y="1828800"/>
            <a:ext cx="3931920" cy="420624"/>
          </a:xfrm>
          <a:prstGeom prst="rect"/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85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02920" y="1920240"/>
            <a:ext cx="256032" cy="256032"/>
          </a:xfrm>
          <a:prstGeom prst="rect"/>
        </p:spPr>
      </p:pic>
      <p:sp>
        <p:nvSpPr>
          <p:cNvPr id="1048848" name="Text 7"/>
          <p:cNvSpPr/>
          <p:nvPr/>
        </p:nvSpPr>
        <p:spPr>
          <a:xfrm>
            <a:off x="868680" y="1901952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Source — no licensing fees</a:t>
            </a:r>
            <a:endParaRPr dirty="0" sz="1050" lang="en-US"/>
          </a:p>
        </p:txBody>
      </p:sp>
      <p:sp>
        <p:nvSpPr>
          <p:cNvPr id="1048849" name="Shape 8"/>
          <p:cNvSpPr/>
          <p:nvPr/>
        </p:nvSpPr>
        <p:spPr>
          <a:xfrm>
            <a:off x="365760" y="2304288"/>
            <a:ext cx="3931920" cy="420624"/>
          </a:xfrm>
          <a:prstGeom prst="rect"/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86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02920" y="2395728"/>
            <a:ext cx="256032" cy="256032"/>
          </a:xfrm>
          <a:prstGeom prst="rect"/>
        </p:spPr>
      </p:pic>
      <p:sp>
        <p:nvSpPr>
          <p:cNvPr id="1048850" name="Text 9"/>
          <p:cNvSpPr/>
          <p:nvPr/>
        </p:nvSpPr>
        <p:spPr>
          <a:xfrm>
            <a:off x="868680" y="2377440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&amp; customization</a:t>
            </a:r>
            <a:endParaRPr dirty="0" sz="1050" lang="en-US"/>
          </a:p>
        </p:txBody>
      </p:sp>
      <p:sp>
        <p:nvSpPr>
          <p:cNvPr id="1048851" name="Shape 10"/>
          <p:cNvSpPr/>
          <p:nvPr/>
        </p:nvSpPr>
        <p:spPr>
          <a:xfrm>
            <a:off x="365760" y="2779776"/>
            <a:ext cx="3931920" cy="420624"/>
          </a:xfrm>
          <a:prstGeom prst="rect"/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87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02920" y="2871216"/>
            <a:ext cx="256032" cy="256032"/>
          </a:xfrm>
          <a:prstGeom prst="rect"/>
        </p:spPr>
      </p:pic>
      <p:sp>
        <p:nvSpPr>
          <p:cNvPr id="1048852" name="Text 11"/>
          <p:cNvSpPr/>
          <p:nvPr/>
        </p:nvSpPr>
        <p:spPr>
          <a:xfrm>
            <a:off x="868680" y="2852928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</a:t>
            </a:r>
            <a:endParaRPr dirty="0" sz="1050" lang="en-US"/>
          </a:p>
        </p:txBody>
      </p:sp>
      <p:sp>
        <p:nvSpPr>
          <p:cNvPr id="1048853" name="Shape 12"/>
          <p:cNvSpPr/>
          <p:nvPr/>
        </p:nvSpPr>
        <p:spPr>
          <a:xfrm>
            <a:off x="365760" y="3255264"/>
            <a:ext cx="3931920" cy="420624"/>
          </a:xfrm>
          <a:prstGeom prst="rect"/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88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02920" y="3346704"/>
            <a:ext cx="256032" cy="256032"/>
          </a:xfrm>
          <a:prstGeom prst="rect"/>
        </p:spPr>
      </p:pic>
      <p:sp>
        <p:nvSpPr>
          <p:cNvPr id="1048854" name="Text 13"/>
          <p:cNvSpPr/>
          <p:nvPr/>
        </p:nvSpPr>
        <p:spPr>
          <a:xfrm>
            <a:off x="868680" y="3328416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private &amp; hybrid cloud</a:t>
            </a:r>
            <a:endParaRPr dirty="0" sz="1050" lang="en-US"/>
          </a:p>
        </p:txBody>
      </p:sp>
      <p:sp>
        <p:nvSpPr>
          <p:cNvPr id="1048855" name="Shape 14"/>
          <p:cNvSpPr/>
          <p:nvPr/>
        </p:nvSpPr>
        <p:spPr>
          <a:xfrm>
            <a:off x="365760" y="3730752"/>
            <a:ext cx="3931920" cy="420624"/>
          </a:xfrm>
          <a:prstGeom prst="rect"/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89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02920" y="3822192"/>
            <a:ext cx="256032" cy="256032"/>
          </a:xfrm>
          <a:prstGeom prst="rect"/>
        </p:spPr>
      </p:pic>
      <p:sp>
        <p:nvSpPr>
          <p:cNvPr id="1048856" name="Text 15"/>
          <p:cNvSpPr/>
          <p:nvPr/>
        </p:nvSpPr>
        <p:spPr>
          <a:xfrm>
            <a:off x="868680" y="3803904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security — data stays on-premise</a:t>
            </a:r>
            <a:endParaRPr dirty="0" sz="1050" lang="en-US"/>
          </a:p>
        </p:txBody>
      </p:sp>
      <p:sp>
        <p:nvSpPr>
          <p:cNvPr id="1048857" name="Shape 16"/>
          <p:cNvSpPr/>
          <p:nvPr/>
        </p:nvSpPr>
        <p:spPr>
          <a:xfrm>
            <a:off x="365760" y="4206240"/>
            <a:ext cx="3931920" cy="420624"/>
          </a:xfrm>
          <a:prstGeom prst="rect"/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90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02920" y="4297680"/>
            <a:ext cx="256032" cy="256032"/>
          </a:xfrm>
          <a:prstGeom prst="rect"/>
        </p:spPr>
      </p:pic>
      <p:sp>
        <p:nvSpPr>
          <p:cNvPr id="1048858" name="Text 17"/>
          <p:cNvSpPr/>
          <p:nvPr/>
        </p:nvSpPr>
        <p:spPr>
          <a:xfrm>
            <a:off x="868680" y="4279392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active community</a:t>
            </a:r>
            <a:endParaRPr dirty="0" sz="1050" lang="en-US"/>
          </a:p>
        </p:txBody>
      </p:sp>
      <p:sp>
        <p:nvSpPr>
          <p:cNvPr id="1048859" name="Shape 18"/>
          <p:cNvSpPr/>
          <p:nvPr/>
        </p:nvSpPr>
        <p:spPr>
          <a:xfrm>
            <a:off x="4846320" y="1371600"/>
            <a:ext cx="3931920" cy="365760"/>
          </a:xfrm>
          <a:prstGeom prst="rect"/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860" name="Text 19"/>
          <p:cNvSpPr/>
          <p:nvPr/>
        </p:nvSpPr>
        <p:spPr>
          <a:xfrm>
            <a:off x="4846320" y="1371600"/>
            <a:ext cx="393192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✗  DISADVANTAGES</a:t>
            </a:r>
            <a:endParaRPr dirty="0" sz="1300" lang="en-US"/>
          </a:p>
        </p:txBody>
      </p:sp>
      <p:sp>
        <p:nvSpPr>
          <p:cNvPr id="1048861" name="Shape 20"/>
          <p:cNvSpPr/>
          <p:nvPr/>
        </p:nvSpPr>
        <p:spPr>
          <a:xfrm>
            <a:off x="4846320" y="1828800"/>
            <a:ext cx="3931920" cy="420624"/>
          </a:xfrm>
          <a:prstGeom prst="rect"/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91" name="Image 6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983480" y="1920240"/>
            <a:ext cx="256032" cy="256032"/>
          </a:xfrm>
          <a:prstGeom prst="rect"/>
        </p:spPr>
      </p:pic>
      <p:sp>
        <p:nvSpPr>
          <p:cNvPr id="1048862" name="Text 21"/>
          <p:cNvSpPr/>
          <p:nvPr/>
        </p:nvSpPr>
        <p:spPr>
          <a:xfrm>
            <a:off x="5349240" y="1901952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setup &amp; maintenance</a:t>
            </a:r>
            <a:endParaRPr dirty="0" sz="1050" lang="en-US"/>
          </a:p>
        </p:txBody>
      </p:sp>
      <p:sp>
        <p:nvSpPr>
          <p:cNvPr id="1048863" name="Shape 22"/>
          <p:cNvSpPr/>
          <p:nvPr/>
        </p:nvSpPr>
        <p:spPr>
          <a:xfrm>
            <a:off x="4846320" y="2304288"/>
            <a:ext cx="3931920" cy="420624"/>
          </a:xfrm>
          <a:prstGeom prst="rect"/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92" name="Image 7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983480" y="2395728"/>
            <a:ext cx="256032" cy="256032"/>
          </a:xfrm>
          <a:prstGeom prst="rect"/>
        </p:spPr>
      </p:pic>
      <p:sp>
        <p:nvSpPr>
          <p:cNvPr id="1048864" name="Text 23"/>
          <p:cNvSpPr/>
          <p:nvPr/>
        </p:nvSpPr>
        <p:spPr>
          <a:xfrm>
            <a:off x="5349240" y="2377440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dedicated IT team</a:t>
            </a:r>
            <a:endParaRPr dirty="0" sz="1050" lang="en-US"/>
          </a:p>
        </p:txBody>
      </p:sp>
      <p:sp>
        <p:nvSpPr>
          <p:cNvPr id="1048865" name="Shape 24"/>
          <p:cNvSpPr/>
          <p:nvPr/>
        </p:nvSpPr>
        <p:spPr>
          <a:xfrm>
            <a:off x="4846320" y="2779776"/>
            <a:ext cx="3931920" cy="420624"/>
          </a:xfrm>
          <a:prstGeom prst="rect"/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93" name="Image 8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983480" y="2871216"/>
            <a:ext cx="256032" cy="256032"/>
          </a:xfrm>
          <a:prstGeom prst="rect"/>
        </p:spPr>
      </p:pic>
      <p:sp>
        <p:nvSpPr>
          <p:cNvPr id="1048866" name="Text 25"/>
          <p:cNvSpPr/>
          <p:nvPr/>
        </p:nvSpPr>
        <p:spPr>
          <a:xfrm>
            <a:off x="5349240" y="2852928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upfront infrastructure cost</a:t>
            </a:r>
            <a:endParaRPr dirty="0" sz="1050" lang="en-US"/>
          </a:p>
        </p:txBody>
      </p:sp>
      <p:sp>
        <p:nvSpPr>
          <p:cNvPr id="1048867" name="Shape 26"/>
          <p:cNvSpPr/>
          <p:nvPr/>
        </p:nvSpPr>
        <p:spPr>
          <a:xfrm>
            <a:off x="4846320" y="3255264"/>
            <a:ext cx="3931920" cy="420624"/>
          </a:xfrm>
          <a:prstGeom prst="rect"/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94" name="Image 9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983480" y="3346704"/>
            <a:ext cx="256032" cy="256032"/>
          </a:xfrm>
          <a:prstGeom prst="rect"/>
        </p:spPr>
      </p:pic>
      <p:sp>
        <p:nvSpPr>
          <p:cNvPr id="1048868" name="Text 27"/>
          <p:cNvSpPr/>
          <p:nvPr/>
        </p:nvSpPr>
        <p:spPr>
          <a:xfrm>
            <a:off x="5349240" y="3328416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managed services than AWS</a:t>
            </a:r>
            <a:endParaRPr dirty="0" sz="1050" lang="en-US"/>
          </a:p>
        </p:txBody>
      </p:sp>
      <p:sp>
        <p:nvSpPr>
          <p:cNvPr id="1048869" name="Shape 28"/>
          <p:cNvSpPr/>
          <p:nvPr/>
        </p:nvSpPr>
        <p:spPr>
          <a:xfrm>
            <a:off x="4846320" y="3730752"/>
            <a:ext cx="3931920" cy="420624"/>
          </a:xfrm>
          <a:prstGeom prst="rect"/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95" name="Image 1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983480" y="3822192"/>
            <a:ext cx="256032" cy="256032"/>
          </a:xfrm>
          <a:prstGeom prst="rect"/>
        </p:spPr>
      </p:pic>
      <p:sp>
        <p:nvSpPr>
          <p:cNvPr id="1048870" name="Text 29"/>
          <p:cNvSpPr/>
          <p:nvPr/>
        </p:nvSpPr>
        <p:spPr>
          <a:xfrm>
            <a:off x="5349240" y="3803904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feature releases</a:t>
            </a:r>
            <a:endParaRPr dirty="0" sz="1050" lang="en-US"/>
          </a:p>
        </p:txBody>
      </p:sp>
      <p:sp>
        <p:nvSpPr>
          <p:cNvPr id="1048871" name="Shape 30"/>
          <p:cNvSpPr/>
          <p:nvPr/>
        </p:nvSpPr>
        <p:spPr>
          <a:xfrm>
            <a:off x="4846320" y="4206240"/>
            <a:ext cx="3931920" cy="420624"/>
          </a:xfrm>
          <a:prstGeom prst="rect"/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  <p:txBody>
          <a:bodyPr/>
          <a:p>
            <a:endParaRPr lang="en-GB"/>
          </a:p>
        </p:txBody>
      </p:sp>
      <p:pic>
        <p:nvPicPr>
          <p:cNvPr id="2097196" name="Image 1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983480" y="4297680"/>
            <a:ext cx="256032" cy="256032"/>
          </a:xfrm>
          <a:prstGeom prst="rect"/>
        </p:spPr>
      </p:pic>
      <p:sp>
        <p:nvSpPr>
          <p:cNvPr id="1048872" name="Text 31"/>
          <p:cNvSpPr/>
          <p:nvPr/>
        </p:nvSpPr>
        <p:spPr>
          <a:xfrm>
            <a:off x="5349240" y="4279392"/>
            <a:ext cx="3337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official support options</a:t>
            </a:r>
            <a:endParaRPr dirty="0" sz="1050" lang="en-US"/>
          </a:p>
        </p:txBody>
      </p:sp>
      <p:sp>
        <p:nvSpPr>
          <p:cNvPr id="1048873" name="Shape 32"/>
          <p:cNvSpPr/>
          <p:nvPr/>
        </p:nvSpPr>
        <p:spPr>
          <a:xfrm>
            <a:off x="365760" y="4736592"/>
            <a:ext cx="8412480" cy="292608"/>
          </a:xfrm>
          <a:prstGeom prst="rect"/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874" name="Text 33"/>
          <p:cNvSpPr/>
          <p:nvPr/>
        </p:nvSpPr>
        <p:spPr>
          <a:xfrm>
            <a:off x="365760" y="4736592"/>
            <a:ext cx="841248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9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8" name="Shape 0"/>
          <p:cNvSpPr/>
          <p:nvPr/>
        </p:nvSpPr>
        <p:spPr>
          <a:xfrm>
            <a:off x="365760" y="164592"/>
            <a:ext cx="1645920" cy="256032"/>
          </a:xfrm>
          <a:prstGeom prst="rect"/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879" name="Text 1"/>
          <p:cNvSpPr/>
          <p:nvPr/>
        </p:nvSpPr>
        <p:spPr>
          <a:xfrm>
            <a:off x="365760" y="164592"/>
            <a:ext cx="164592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00" lang="en-US">
                <a:solidFill>
                  <a:srgbClr val="FFFFFF"/>
                </a:solidFill>
              </a:rPr>
              <a:t>FUTURE TRENDS</a:t>
            </a:r>
            <a:endParaRPr dirty="0" sz="700" lang="en-US"/>
          </a:p>
        </p:txBody>
      </p:sp>
      <p:sp>
        <p:nvSpPr>
          <p:cNvPr id="1048880" name="Text 2"/>
          <p:cNvSpPr/>
          <p:nvPr/>
        </p:nvSpPr>
        <p:spPr>
          <a:xfrm>
            <a:off x="365760" y="502920"/>
            <a:ext cx="841248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2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Future of Cloud Platforms</a:t>
            </a:r>
            <a:endParaRPr dirty="0" sz="3200" lang="en-US"/>
          </a:p>
        </p:txBody>
      </p:sp>
      <p:sp>
        <p:nvSpPr>
          <p:cNvPr id="1048881" name="Text 3"/>
          <p:cNvSpPr/>
          <p:nvPr/>
        </p:nvSpPr>
        <p:spPr>
          <a:xfrm>
            <a:off x="365760" y="1097280"/>
            <a:ext cx="18288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endParaRPr dirty="0" sz="800" lang="en-US"/>
          </a:p>
        </p:txBody>
      </p:sp>
      <p:grpSp>
        <p:nvGrpSpPr>
          <p:cNvPr id="64" name="Group 23"/>
          <p:cNvGrpSpPr/>
          <p:nvPr/>
        </p:nvGrpSpPr>
        <p:grpSpPr>
          <a:xfrm>
            <a:off x="328127" y="1138428"/>
            <a:ext cx="8458200" cy="1691640"/>
            <a:chOff x="365760" y="1417320"/>
            <a:chExt cx="8458200" cy="1691640"/>
          </a:xfrm>
        </p:grpSpPr>
        <p:sp>
          <p:nvSpPr>
            <p:cNvPr id="1048882" name="Shape 4"/>
            <p:cNvSpPr/>
            <p:nvPr/>
          </p:nvSpPr>
          <p:spPr>
            <a:xfrm>
              <a:off x="365760" y="1417320"/>
              <a:ext cx="4114800" cy="1691640"/>
            </a:xfrm>
            <a:prstGeom prst="rect"/>
            <a:noFill/>
            <a:ln w="19050">
              <a:solidFill>
                <a:srgbClr val="1A73E8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pic>
          <p:nvPicPr>
            <p:cNvPr id="2097197" name="Image 0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/>
            <a:stretch>
              <a:fillRect/>
            </a:stretch>
          </p:blipFill>
          <p:spPr>
            <a:xfrm>
              <a:off x="530352" y="1600200"/>
              <a:ext cx="502920" cy="502920"/>
            </a:xfrm>
            <a:prstGeom prst="rect"/>
          </p:spPr>
        </p:pic>
        <p:sp>
          <p:nvSpPr>
            <p:cNvPr id="1048883" name="Text 5"/>
            <p:cNvSpPr/>
            <p:nvPr/>
          </p:nvSpPr>
          <p:spPr>
            <a:xfrm>
              <a:off x="1143000" y="1600200"/>
              <a:ext cx="3200400" cy="36576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400" lang="en-US">
                  <a:solidFill>
                    <a:srgbClr val="1A7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&amp; ML Integration</a:t>
              </a:r>
              <a:endParaRPr dirty="0" sz="1400" lang="en-US"/>
            </a:p>
          </p:txBody>
        </p:sp>
        <p:sp>
          <p:nvSpPr>
            <p:cNvPr id="1048884" name="Text 6"/>
            <p:cNvSpPr/>
            <p:nvPr/>
          </p:nvSpPr>
          <p:spPr>
            <a:xfrm>
              <a:off x="502920" y="2103120"/>
              <a:ext cx="3840480" cy="868680"/>
            </a:xfrm>
            <a:prstGeom prst="rect"/>
            <a:noFill/>
          </p:spPr>
          <p:txBody>
            <a:bodyPr anchor="ctr" rtlCol="0" wrap="square"/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Cloud-native AI services</a:t>
              </a:r>
              <a:endParaRPr dirty="0" sz="1000" lang="en-US"/>
            </a:p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GPU clusters on-demand</a:t>
              </a:r>
              <a:endParaRPr dirty="0" sz="1000" lang="en-US"/>
            </a:p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 deployment at scale</a:t>
              </a:r>
              <a:endParaRPr dirty="0" sz="1000" lang="en-US"/>
            </a:p>
          </p:txBody>
        </p:sp>
        <p:sp>
          <p:nvSpPr>
            <p:cNvPr id="1048885" name="Shape 7"/>
            <p:cNvSpPr/>
            <p:nvPr/>
          </p:nvSpPr>
          <p:spPr>
            <a:xfrm>
              <a:off x="4709160" y="1417320"/>
              <a:ext cx="4114800" cy="1691640"/>
            </a:xfrm>
            <a:prstGeom prst="rect"/>
            <a:noFill/>
            <a:ln w="19050">
              <a:solidFill>
                <a:srgbClr val="00BFA5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pic>
          <p:nvPicPr>
            <p:cNvPr id="2097198" name="Image 1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4873752" y="1600200"/>
              <a:ext cx="502920" cy="502920"/>
            </a:xfrm>
            <a:prstGeom prst="rect"/>
          </p:spPr>
        </p:pic>
        <p:sp>
          <p:nvSpPr>
            <p:cNvPr id="1048886" name="Text 8"/>
            <p:cNvSpPr/>
            <p:nvPr/>
          </p:nvSpPr>
          <p:spPr>
            <a:xfrm>
              <a:off x="5486400" y="1600200"/>
              <a:ext cx="3200400" cy="36576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400" lang="en-US">
                  <a:solidFill>
                    <a:srgbClr val="00B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Hybrid Cloud</a:t>
              </a:r>
              <a:endParaRPr dirty="0" sz="1400" lang="en-US"/>
            </a:p>
          </p:txBody>
        </p:sp>
        <p:sp>
          <p:nvSpPr>
            <p:cNvPr id="1048887" name="Text 9"/>
            <p:cNvSpPr/>
            <p:nvPr/>
          </p:nvSpPr>
          <p:spPr>
            <a:xfrm>
              <a:off x="4846320" y="2103120"/>
              <a:ext cx="3840480" cy="868680"/>
            </a:xfrm>
            <a:prstGeom prst="rect"/>
            <a:noFill/>
          </p:spPr>
          <p:txBody>
            <a:bodyPr anchor="ctr" rtlCol="0" wrap="square"/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AWS Outposts on-premise</a:t>
              </a:r>
              <a:endParaRPr dirty="0" sz="1000" lang="en-US"/>
            </a:p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OpenStack + public cloud</a:t>
              </a:r>
              <a:endParaRPr dirty="0" sz="1000" lang="en-US"/>
            </a:p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Unified management layer</a:t>
              </a:r>
              <a:endParaRPr dirty="0" sz="1000" lang="en-US"/>
            </a:p>
          </p:txBody>
        </p:sp>
      </p:grpSp>
      <p:grpSp>
        <p:nvGrpSpPr>
          <p:cNvPr id="65" name="Group 24"/>
          <p:cNvGrpSpPr/>
          <p:nvPr/>
        </p:nvGrpSpPr>
        <p:grpSpPr>
          <a:xfrm>
            <a:off x="342900" y="3040380"/>
            <a:ext cx="8458200" cy="1691640"/>
            <a:chOff x="365760" y="3337560"/>
            <a:chExt cx="8458200" cy="1691640"/>
          </a:xfrm>
        </p:grpSpPr>
        <p:sp>
          <p:nvSpPr>
            <p:cNvPr id="1048888" name="Shape 10"/>
            <p:cNvSpPr/>
            <p:nvPr/>
          </p:nvSpPr>
          <p:spPr>
            <a:xfrm>
              <a:off x="365760" y="3337560"/>
              <a:ext cx="4114800" cy="1691640"/>
            </a:xfrm>
            <a:prstGeom prst="rect"/>
            <a:noFill/>
            <a:ln w="19050">
              <a:solidFill>
                <a:srgbClr val="FF6B35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pic>
          <p:nvPicPr>
            <p:cNvPr id="2097199" name="Image 2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3"/>
            <a:stretch>
              <a:fillRect/>
            </a:stretch>
          </p:blipFill>
          <p:spPr>
            <a:xfrm>
              <a:off x="530352" y="3520440"/>
              <a:ext cx="502920" cy="502920"/>
            </a:xfrm>
            <a:prstGeom prst="rect"/>
          </p:spPr>
        </p:pic>
        <p:sp>
          <p:nvSpPr>
            <p:cNvPr id="1048889" name="Text 11"/>
            <p:cNvSpPr/>
            <p:nvPr/>
          </p:nvSpPr>
          <p:spPr>
            <a:xfrm>
              <a:off x="1143000" y="3520440"/>
              <a:ext cx="3200400" cy="36576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400" lang="en-US">
                  <a:solidFill>
                    <a:srgbClr val="FF6B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Multi-Cloud Strategy</a:t>
              </a:r>
              <a:endParaRPr dirty="0" sz="1400" lang="en-US"/>
            </a:p>
          </p:txBody>
        </p:sp>
        <p:sp>
          <p:nvSpPr>
            <p:cNvPr id="1048890" name="Text 12"/>
            <p:cNvSpPr/>
            <p:nvPr/>
          </p:nvSpPr>
          <p:spPr>
            <a:xfrm>
              <a:off x="502920" y="4023360"/>
              <a:ext cx="3840480" cy="868680"/>
            </a:xfrm>
            <a:prstGeom prst="rect"/>
            <a:noFill/>
          </p:spPr>
          <p:txBody>
            <a:bodyPr anchor="ctr" rtlCol="0" wrap="square"/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Avoid vendor lock-in</a:t>
              </a:r>
              <a:endParaRPr dirty="0" sz="1000" lang="en-US"/>
            </a:p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Best-of-breed services</a:t>
              </a:r>
              <a:endParaRPr dirty="0" sz="1000" lang="en-US"/>
            </a:p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Cross-cloud portability</a:t>
              </a:r>
              <a:endParaRPr dirty="0" sz="1000" lang="en-US"/>
            </a:p>
          </p:txBody>
        </p:sp>
        <p:sp>
          <p:nvSpPr>
            <p:cNvPr id="1048891" name="Shape 13"/>
            <p:cNvSpPr/>
            <p:nvPr/>
          </p:nvSpPr>
          <p:spPr>
            <a:xfrm>
              <a:off x="4709160" y="3337560"/>
              <a:ext cx="4114800" cy="1691640"/>
            </a:xfrm>
            <a:prstGeom prst="rect"/>
            <a:noFill/>
            <a:ln w="19050">
              <a:solidFill>
                <a:srgbClr val="7C3AED"/>
              </a:solidFill>
              <a:prstDash val="solid"/>
            </a:ln>
            <a:effectLst>
              <a:outerShdw algn="bl" blurRad="101600" dir="8100000" dist="38100" rotWithShape="0">
                <a:srgbClr val="000000">
                  <a:alpha val="12000"/>
                </a:srgbClr>
              </a:outerShdw>
            </a:effectLst>
          </p:spPr>
          <p:txBody>
            <a:bodyPr/>
            <a:p>
              <a:endParaRPr lang="en-GB"/>
            </a:p>
          </p:txBody>
        </p:sp>
        <p:pic>
          <p:nvPicPr>
            <p:cNvPr id="2097200" name="Image 3" descr="preencoded.png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4"/>
            <a:stretch>
              <a:fillRect/>
            </a:stretch>
          </p:blipFill>
          <p:spPr>
            <a:xfrm>
              <a:off x="4873752" y="3520440"/>
              <a:ext cx="502920" cy="502920"/>
            </a:xfrm>
            <a:prstGeom prst="rect"/>
          </p:spPr>
        </p:pic>
        <p:sp>
          <p:nvSpPr>
            <p:cNvPr id="1048892" name="Text 14"/>
            <p:cNvSpPr/>
            <p:nvPr/>
          </p:nvSpPr>
          <p:spPr>
            <a:xfrm>
              <a:off x="5486400" y="3520440"/>
              <a:ext cx="3200400" cy="36576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400" lang="en-US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Automation &amp; AIOps</a:t>
              </a:r>
              <a:endParaRPr dirty="0" sz="1400" lang="en-US"/>
            </a:p>
          </p:txBody>
        </p:sp>
        <p:sp>
          <p:nvSpPr>
            <p:cNvPr id="1048893" name="Text 15"/>
            <p:cNvSpPr/>
            <p:nvPr/>
          </p:nvSpPr>
          <p:spPr>
            <a:xfrm>
              <a:off x="4846320" y="4023360"/>
              <a:ext cx="3840480" cy="868680"/>
            </a:xfrm>
            <a:prstGeom prst="rect"/>
            <a:noFill/>
          </p:spPr>
          <p:txBody>
            <a:bodyPr anchor="ctr" rtlCol="0" wrap="square"/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Self-healing infrastructure</a:t>
              </a:r>
              <a:endParaRPr dirty="0" sz="1000" lang="en-US"/>
            </a:p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Predictive scaling</a:t>
              </a:r>
              <a:endParaRPr dirty="0" sz="1000" lang="en-US"/>
            </a:p>
            <a:p>
              <a:pPr indent="-342900" marL="342900">
                <a:spcAft>
                  <a:spcPts val="300"/>
                </a:spcAft>
                <a:buSzPct val="100000"/>
                <a:buChar char="•"/>
              </a:pPr>
              <a:r>
                <a:rPr dirty="0" sz="1000" lang="en-US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Zero-touch operations</a:t>
              </a:r>
              <a:endParaRPr dirty="0" sz="1000" lang="en-US"/>
            </a:p>
          </p:txBody>
        </p:sp>
      </p:grpSp>
      <p:sp>
        <p:nvSpPr>
          <p:cNvPr id="1048894" name="Shape 16"/>
          <p:cNvSpPr/>
          <p:nvPr/>
        </p:nvSpPr>
        <p:spPr>
          <a:xfrm>
            <a:off x="0" y="5102352"/>
            <a:ext cx="9144000" cy="41148"/>
          </a:xfrm>
          <a:prstGeom prst="rect"/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8" name="TopBar"/>
          <p:cNvSpPr/>
          <p:nvPr/>
        </p:nvSpPr>
        <p:spPr>
          <a:xfrm>
            <a:off x="0" y="0"/>
            <a:ext cx="9144000" cy="36576"/>
          </a:xfrm>
          <a:prstGeom prst="rect"/>
          <a:solidFill>
            <a:srgbClr val="1A73E8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048899" name="CircleTopRight"/>
          <p:cNvSpPr/>
          <p:nvPr/>
        </p:nvSpPr>
        <p:spPr>
          <a:xfrm>
            <a:off x="7166610" y="3163824"/>
            <a:ext cx="2743200" cy="2743200"/>
          </a:xfrm>
          <a:prstGeom prst="ellipse"/>
          <a:solidFill>
            <a:schemeClr val="accent1">
              <a:lumMod val="75000"/>
              <a:alpha val="12000"/>
            </a:schemeClr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048900" name="CircleBottomLeft"/>
          <p:cNvSpPr/>
          <p:nvPr/>
        </p:nvSpPr>
        <p:spPr>
          <a:xfrm>
            <a:off x="-651510" y="-514350"/>
            <a:ext cx="2286000" cy="2286000"/>
          </a:xfrm>
          <a:prstGeom prst="ellipse"/>
          <a:solidFill>
            <a:schemeClr val="accent2">
              <a:lumMod val="75000"/>
              <a:alpha val="12000"/>
            </a:schemeClr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048901" name="AccentLine"/>
          <p:cNvSpPr/>
          <p:nvPr/>
        </p:nvSpPr>
        <p:spPr>
          <a:xfrm>
            <a:off x="2743200" y="2743200"/>
            <a:ext cx="3657600" cy="36576"/>
          </a:xfrm>
          <a:prstGeom prst="rect"/>
          <a:solidFill>
            <a:srgbClr val="FF9900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048902" name="ThankYou"/>
          <p:cNvSpPr/>
          <p:nvPr/>
        </p:nvSpPr>
        <p:spPr>
          <a:xfrm>
            <a:off x="491490" y="1645920"/>
            <a:ext cx="8046720" cy="12801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7200" lang="en-US">
                <a:latin typeface="Calibri"/>
              </a:rPr>
              <a:t>Thank You</a:t>
            </a:r>
          </a:p>
        </p:txBody>
      </p:sp>
      <p:sp>
        <p:nvSpPr>
          <p:cNvPr id="1048903" name="BottomBar"/>
          <p:cNvSpPr/>
          <p:nvPr/>
        </p:nvSpPr>
        <p:spPr>
          <a:xfrm>
            <a:off x="0" y="5298960"/>
            <a:ext cx="9144000" cy="36576"/>
          </a:xfrm>
          <a:prstGeom prst="rect"/>
          <a:solidFill>
            <a:srgbClr val="FF6B35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048904" name="Shape 32"/>
          <p:cNvSpPr/>
          <p:nvPr/>
        </p:nvSpPr>
        <p:spPr>
          <a:xfrm>
            <a:off x="365760" y="4823460"/>
            <a:ext cx="8412480" cy="292608"/>
          </a:xfrm>
          <a:prstGeom prst="rect"/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p>
            <a:endParaRPr lang="en-GB"/>
          </a:p>
        </p:txBody>
      </p:sp>
      <p:sp>
        <p:nvSpPr>
          <p:cNvPr id="1048905" name="CircleTopRight"/>
          <p:cNvSpPr/>
          <p:nvPr/>
        </p:nvSpPr>
        <p:spPr>
          <a:xfrm>
            <a:off x="840105" y="2454115"/>
            <a:ext cx="2743200" cy="2743200"/>
          </a:xfrm>
          <a:prstGeom prst="ellipse"/>
          <a:solidFill>
            <a:schemeClr val="accent1">
              <a:lumMod val="75000"/>
              <a:alpha val="12000"/>
            </a:schemeClr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048906" name="CircleBottomLeft"/>
          <p:cNvSpPr/>
          <p:nvPr/>
        </p:nvSpPr>
        <p:spPr>
          <a:xfrm>
            <a:off x="6252210" y="168115"/>
            <a:ext cx="2286000" cy="2286000"/>
          </a:xfrm>
          <a:prstGeom prst="ellipse"/>
          <a:solidFill>
            <a:schemeClr val="accent2">
              <a:lumMod val="75000"/>
              <a:alpha val="12000"/>
            </a:schemeClr>
          </a:soli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Cloud Platforms: AWS and OpenStack</dc:title>
  <dc:creator>PptxGenJS</dc:creator>
  <cp:lastModifiedBy>Student</cp:lastModifiedBy>
  <dcterms:created xsi:type="dcterms:W3CDTF">2026-05-16T14:00:24Z</dcterms:created>
  <dcterms:modified xsi:type="dcterms:W3CDTF">2026-05-19T17:21:54Z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bd082cc832fb40b48ac2aaaf8d3b356c</vt:lpwstr>
  </property>
</Properties>
</file>